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08" r:id="rId1"/>
  </p:sldMasterIdLst>
  <p:sldIdLst>
    <p:sldId id="320" r:id="rId2"/>
    <p:sldId id="321" r:id="rId3"/>
    <p:sldId id="322" r:id="rId4"/>
    <p:sldId id="323" r:id="rId5"/>
    <p:sldId id="324" r:id="rId6"/>
  </p:sldIdLst>
  <p:sldSz cx="9144000" cy="6858000" type="screen4x3"/>
  <p:notesSz cx="6858000" cy="9144000"/>
  <p:defaultTextStyle>
    <a:defPPr>
      <a:defRPr lang="fa-IR"/>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0000"/>
    <a:srgbClr val="000032"/>
    <a:srgbClr val="CCECFF"/>
    <a:srgbClr val="FFFFFF"/>
    <a:srgbClr val="C80000"/>
    <a:srgbClr val="B40000"/>
    <a:srgbClr val="DE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autoAdjust="0"/>
    <p:restoredTop sz="99548" autoAdjust="0"/>
  </p:normalViewPr>
  <p:slideViewPr>
    <p:cSldViewPr>
      <p:cViewPr varScale="1">
        <p:scale>
          <a:sx n="92" d="100"/>
          <a:sy n="92" d="100"/>
        </p:scale>
        <p:origin x="-133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9.wmf"/><Relationship Id="rId7" Type="http://schemas.openxmlformats.org/officeDocument/2006/relationships/image" Target="../media/image13.wmf"/><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 Id="rId9"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28.wmf"/><Relationship Id="rId3" Type="http://schemas.openxmlformats.org/officeDocument/2006/relationships/image" Target="../media/image18.wmf"/><Relationship Id="rId7" Type="http://schemas.openxmlformats.org/officeDocument/2006/relationships/image" Target="../media/image22.wmf"/><Relationship Id="rId12" Type="http://schemas.openxmlformats.org/officeDocument/2006/relationships/image" Target="../media/image27.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11" Type="http://schemas.openxmlformats.org/officeDocument/2006/relationships/image" Target="../media/image26.wmf"/><Relationship Id="rId5" Type="http://schemas.openxmlformats.org/officeDocument/2006/relationships/image" Target="../media/image20.wmf"/><Relationship Id="rId10" Type="http://schemas.openxmlformats.org/officeDocument/2006/relationships/image" Target="../media/image25.wmf"/><Relationship Id="rId4" Type="http://schemas.openxmlformats.org/officeDocument/2006/relationships/image" Target="../media/image19.wmf"/><Relationship Id="rId9"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4" Type="http://schemas.openxmlformats.org/officeDocument/2006/relationships/image" Target="../media/image4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a:defRPr/>
            </a:pPr>
            <a:fld id="{E130C101-2C6E-4C8F-AA1C-0A1694C07ABA}" type="datetimeFigureOut">
              <a:rPr lang="fa-IR" smtClean="0"/>
              <a:pPr>
                <a:defRPr/>
              </a:pPr>
              <a:t>يکشنبه، جمادى الثانية 05، 1432</a:t>
            </a:fld>
            <a:endParaRPr lang="fa-IR"/>
          </a:p>
        </p:txBody>
      </p:sp>
      <p:sp>
        <p:nvSpPr>
          <p:cNvPr id="5" name="Footer Placeholder 4"/>
          <p:cNvSpPr>
            <a:spLocks noGrp="1"/>
          </p:cNvSpPr>
          <p:nvPr>
            <p:ph type="ftr" sz="quarter" idx="11"/>
          </p:nvPr>
        </p:nvSpPr>
        <p:spPr/>
        <p:txBody>
          <a:bodyPr/>
          <a:lstStyle/>
          <a:p>
            <a:pPr>
              <a:defRPr/>
            </a:pPr>
            <a:endParaRPr lang="fa-IR"/>
          </a:p>
        </p:txBody>
      </p:sp>
      <p:sp>
        <p:nvSpPr>
          <p:cNvPr id="6" name="Slide Number Placeholder 5"/>
          <p:cNvSpPr>
            <a:spLocks noGrp="1"/>
          </p:cNvSpPr>
          <p:nvPr>
            <p:ph type="sldNum" sz="quarter" idx="12"/>
          </p:nvPr>
        </p:nvSpPr>
        <p:spPr/>
        <p:txBody>
          <a:bodyPr/>
          <a:lstStyle/>
          <a:p>
            <a:pPr>
              <a:defRPr/>
            </a:pPr>
            <a:fld id="{4F334808-DDD5-47E4-85AE-9CD5581B75CD}" type="slidenum">
              <a:rPr lang="fa-IR" smtClean="0"/>
              <a:pPr>
                <a:defRPr/>
              </a:pPr>
              <a:t>‹#›</a:t>
            </a:fld>
            <a:endParaRPr lang="fa-IR"/>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1936C1E8-B21F-4F1C-B4DC-1F75066BA02A}" type="datetimeFigureOut">
              <a:rPr lang="fa-IR" smtClean="0"/>
              <a:pPr>
                <a:defRPr/>
              </a:pPr>
              <a:t>يکشنبه، جمادى الثانية 05، 1432</a:t>
            </a:fld>
            <a:endParaRPr lang="fa-IR"/>
          </a:p>
        </p:txBody>
      </p:sp>
      <p:sp>
        <p:nvSpPr>
          <p:cNvPr id="5" name="Footer Placeholder 4"/>
          <p:cNvSpPr>
            <a:spLocks noGrp="1"/>
          </p:cNvSpPr>
          <p:nvPr>
            <p:ph type="ftr" sz="quarter" idx="11"/>
          </p:nvPr>
        </p:nvSpPr>
        <p:spPr/>
        <p:txBody>
          <a:bodyPr/>
          <a:lstStyle/>
          <a:p>
            <a:pPr>
              <a:defRPr/>
            </a:pPr>
            <a:endParaRPr lang="fa-IR"/>
          </a:p>
        </p:txBody>
      </p:sp>
      <p:sp>
        <p:nvSpPr>
          <p:cNvPr id="6" name="Slide Number Placeholder 5"/>
          <p:cNvSpPr>
            <a:spLocks noGrp="1"/>
          </p:cNvSpPr>
          <p:nvPr>
            <p:ph type="sldNum" sz="quarter" idx="12"/>
          </p:nvPr>
        </p:nvSpPr>
        <p:spPr/>
        <p:txBody>
          <a:bodyPr/>
          <a:lstStyle/>
          <a:p>
            <a:pPr>
              <a:defRPr/>
            </a:pPr>
            <a:fld id="{86319AAF-D9F8-4170-B05C-13DA06D8D971}" type="slidenum">
              <a:rPr lang="fa-IR" smtClean="0"/>
              <a:pPr>
                <a:defRPr/>
              </a:pPr>
              <a:t>‹#›</a:t>
            </a:fld>
            <a:endParaRPr lang="fa-IR"/>
          </a:p>
        </p:txBody>
      </p:sp>
      <p:sp>
        <p:nvSpPr>
          <p:cNvPr id="8" name="Title 7"/>
          <p:cNvSpPr>
            <a:spLocks noGrp="1"/>
          </p:cNvSpPr>
          <p:nvPr>
            <p:ph type="title"/>
          </p:nvPr>
        </p:nvSpPr>
        <p:spPr/>
        <p:txBody>
          <a:bodyPr/>
          <a:lstStyle/>
          <a:p>
            <a:r>
              <a:rPr lang="en-US" smtClean="0"/>
              <a:t>Click to edit Master title style</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62F18AC9-6779-4434-BA8A-41B873F21BF7}" type="datetimeFigureOut">
              <a:rPr lang="fa-IR" smtClean="0"/>
              <a:pPr>
                <a:defRPr/>
              </a:pPr>
              <a:t>يکشنبه، جمادى الثانية 05، 1432</a:t>
            </a:fld>
            <a:endParaRPr lang="fa-IR"/>
          </a:p>
        </p:txBody>
      </p:sp>
      <p:sp>
        <p:nvSpPr>
          <p:cNvPr id="5" name="Footer Placeholder 4"/>
          <p:cNvSpPr>
            <a:spLocks noGrp="1"/>
          </p:cNvSpPr>
          <p:nvPr>
            <p:ph type="ftr" sz="quarter" idx="11"/>
          </p:nvPr>
        </p:nvSpPr>
        <p:spPr/>
        <p:txBody>
          <a:bodyPr/>
          <a:lstStyle/>
          <a:p>
            <a:pPr>
              <a:defRPr/>
            </a:pPr>
            <a:endParaRPr lang="fa-IR"/>
          </a:p>
        </p:txBody>
      </p:sp>
      <p:sp>
        <p:nvSpPr>
          <p:cNvPr id="6" name="Slide Number Placeholder 5"/>
          <p:cNvSpPr>
            <a:spLocks noGrp="1"/>
          </p:cNvSpPr>
          <p:nvPr>
            <p:ph type="sldNum" sz="quarter" idx="12"/>
          </p:nvPr>
        </p:nvSpPr>
        <p:spPr/>
        <p:txBody>
          <a:bodyPr/>
          <a:lstStyle/>
          <a:p>
            <a:pPr>
              <a:defRPr/>
            </a:pPr>
            <a:fld id="{B9BDB251-AD35-4D97-807F-8A247E1E0190}" type="slidenum">
              <a:rPr lang="fa-IR" smtClean="0"/>
              <a:pPr>
                <a:defRPr/>
              </a:pPr>
              <a:t>‹#›</a:t>
            </a:fld>
            <a:endParaRPr lang="fa-I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pPr>
              <a:defRPr/>
            </a:pPr>
            <a:fld id="{A8189A5B-5447-4E19-98D1-81202A8662D9}" type="datetimeFigureOut">
              <a:rPr lang="fa-IR" smtClean="0"/>
              <a:pPr>
                <a:defRPr/>
              </a:pPr>
              <a:t>يکشنبه، جمادى الثانية 05، 1432</a:t>
            </a:fld>
            <a:endParaRPr lang="fa-IR"/>
          </a:p>
        </p:txBody>
      </p:sp>
      <p:sp>
        <p:nvSpPr>
          <p:cNvPr id="6" name="Footer Placeholder 5"/>
          <p:cNvSpPr>
            <a:spLocks noGrp="1"/>
          </p:cNvSpPr>
          <p:nvPr>
            <p:ph type="ftr" sz="quarter" idx="11"/>
          </p:nvPr>
        </p:nvSpPr>
        <p:spPr/>
        <p:txBody>
          <a:bodyPr/>
          <a:lstStyle/>
          <a:p>
            <a:pPr>
              <a:defRPr/>
            </a:pPr>
            <a:endParaRPr lang="fa-IR"/>
          </a:p>
        </p:txBody>
      </p:sp>
      <p:sp>
        <p:nvSpPr>
          <p:cNvPr id="7" name="Slide Number Placeholder 6"/>
          <p:cNvSpPr>
            <a:spLocks noGrp="1"/>
          </p:cNvSpPr>
          <p:nvPr>
            <p:ph type="sldNum" sz="quarter" idx="12"/>
          </p:nvPr>
        </p:nvSpPr>
        <p:spPr/>
        <p:txBody>
          <a:bodyPr/>
          <a:lstStyle/>
          <a:p>
            <a:pPr>
              <a:defRPr/>
            </a:pPr>
            <a:fld id="{81D6A672-95B8-4500-819B-96E7BAF15864}" type="slidenum">
              <a:rPr lang="fa-IR" smtClean="0"/>
              <a:pPr>
                <a:defRPr/>
              </a:pPr>
              <a:t>‹#›</a:t>
            </a:fld>
            <a:endParaRPr lang="fa-IR"/>
          </a:p>
        </p:txBody>
      </p:sp>
      <p:sp>
        <p:nvSpPr>
          <p:cNvPr id="8" name="Title 7"/>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smtClean="0"/>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7FD7194D-D3E8-400E-9963-8D43518696E3}" type="datetimeFigureOut">
              <a:rPr lang="fa-IR" smtClean="0"/>
              <a:pPr>
                <a:defRPr/>
              </a:pPr>
              <a:t>يکشنبه، جمادى الثانية 05، 1432</a:t>
            </a:fld>
            <a:endParaRPr lang="fa-IR"/>
          </a:p>
        </p:txBody>
      </p:sp>
      <p:sp>
        <p:nvSpPr>
          <p:cNvPr id="8" name="Footer Placeholder 7"/>
          <p:cNvSpPr>
            <a:spLocks noGrp="1"/>
          </p:cNvSpPr>
          <p:nvPr>
            <p:ph type="ftr" sz="quarter" idx="11"/>
          </p:nvPr>
        </p:nvSpPr>
        <p:spPr/>
        <p:txBody>
          <a:bodyPr/>
          <a:lstStyle/>
          <a:p>
            <a:pPr>
              <a:defRPr/>
            </a:pPr>
            <a:endParaRPr lang="fa-IR"/>
          </a:p>
        </p:txBody>
      </p:sp>
      <p:sp>
        <p:nvSpPr>
          <p:cNvPr id="9" name="Slide Number Placeholder 8"/>
          <p:cNvSpPr>
            <a:spLocks noGrp="1"/>
          </p:cNvSpPr>
          <p:nvPr>
            <p:ph type="sldNum" sz="quarter" idx="12"/>
          </p:nvPr>
        </p:nvSpPr>
        <p:spPr/>
        <p:txBody>
          <a:bodyPr/>
          <a:lstStyle/>
          <a:p>
            <a:pPr>
              <a:defRPr/>
            </a:pPr>
            <a:fld id="{FFE18297-5B25-47B2-B6F1-EEAA6AB79E7B}" type="slidenum">
              <a:rPr lang="fa-IR" smtClean="0"/>
              <a:pPr>
                <a:defRPr/>
              </a:pPr>
              <a:t>‹#›</a:t>
            </a:fld>
            <a:endParaRPr lang="fa-IR"/>
          </a:p>
        </p:txBody>
      </p:sp>
      <p:sp>
        <p:nvSpPr>
          <p:cNvPr id="10" name="Title 9"/>
          <p:cNvSpPr>
            <a:spLocks noGrp="1"/>
          </p:cNvSpPr>
          <p:nvPr>
            <p:ph type="title"/>
          </p:nvPr>
        </p:nvSpPr>
        <p:spPr/>
        <p:txBody>
          <a:body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D3687743-362D-4AAF-A2BB-425E0957F3CC}" type="datetimeFigureOut">
              <a:rPr lang="fa-IR" smtClean="0"/>
              <a:pPr>
                <a:defRPr/>
              </a:pPr>
              <a:t>يکشنبه، جمادى الثانية 05، 1432</a:t>
            </a:fld>
            <a:endParaRPr lang="fa-IR"/>
          </a:p>
        </p:txBody>
      </p:sp>
      <p:sp>
        <p:nvSpPr>
          <p:cNvPr id="4" name="Footer Placeholder 3"/>
          <p:cNvSpPr>
            <a:spLocks noGrp="1"/>
          </p:cNvSpPr>
          <p:nvPr>
            <p:ph type="ftr" sz="quarter" idx="11"/>
          </p:nvPr>
        </p:nvSpPr>
        <p:spPr/>
        <p:txBody>
          <a:bodyPr/>
          <a:lstStyle/>
          <a:p>
            <a:pPr>
              <a:defRPr/>
            </a:pPr>
            <a:endParaRPr lang="fa-IR"/>
          </a:p>
        </p:txBody>
      </p:sp>
      <p:sp>
        <p:nvSpPr>
          <p:cNvPr id="5" name="Slide Number Placeholder 4"/>
          <p:cNvSpPr>
            <a:spLocks noGrp="1"/>
          </p:cNvSpPr>
          <p:nvPr>
            <p:ph type="sldNum" sz="quarter" idx="12"/>
          </p:nvPr>
        </p:nvSpPr>
        <p:spPr/>
        <p:txBody>
          <a:bodyPr/>
          <a:lstStyle/>
          <a:p>
            <a:pPr>
              <a:defRPr/>
            </a:pPr>
            <a:fld id="{77A1CB9F-2FDA-4118-9AD4-9E5484445F61}" type="slidenum">
              <a:rPr lang="fa-IR" smtClean="0"/>
              <a:pPr>
                <a:defRPr/>
              </a:pPr>
              <a:t>‹#›</a:t>
            </a:fld>
            <a:endParaRPr lang="fa-I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C290A91-EF5F-4C1D-8239-DCCD2429EC6F}" type="datetimeFigureOut">
              <a:rPr lang="fa-IR" smtClean="0"/>
              <a:pPr>
                <a:defRPr/>
              </a:pPr>
              <a:t>يکشنبه، جمادى الثانية 05، 1432</a:t>
            </a:fld>
            <a:endParaRPr lang="fa-IR"/>
          </a:p>
        </p:txBody>
      </p:sp>
      <p:sp>
        <p:nvSpPr>
          <p:cNvPr id="3" name="Footer Placeholder 2"/>
          <p:cNvSpPr>
            <a:spLocks noGrp="1"/>
          </p:cNvSpPr>
          <p:nvPr>
            <p:ph type="ftr" sz="quarter" idx="11"/>
          </p:nvPr>
        </p:nvSpPr>
        <p:spPr/>
        <p:txBody>
          <a:bodyPr/>
          <a:lstStyle/>
          <a:p>
            <a:pPr>
              <a:defRPr/>
            </a:pPr>
            <a:endParaRPr lang="fa-IR"/>
          </a:p>
        </p:txBody>
      </p:sp>
      <p:sp>
        <p:nvSpPr>
          <p:cNvPr id="4" name="Slide Number Placeholder 3"/>
          <p:cNvSpPr>
            <a:spLocks noGrp="1"/>
          </p:cNvSpPr>
          <p:nvPr>
            <p:ph type="sldNum" sz="quarter" idx="12"/>
          </p:nvPr>
        </p:nvSpPr>
        <p:spPr/>
        <p:txBody>
          <a:bodyPr/>
          <a:lstStyle/>
          <a:p>
            <a:pPr>
              <a:defRPr/>
            </a:pPr>
            <a:fld id="{756D0235-395E-460C-883A-D752C7BB2CC4}" type="slidenum">
              <a:rPr lang="fa-IR" smtClean="0"/>
              <a:pPr>
                <a:defRPr/>
              </a:pPr>
              <a:t>‹#›</a:t>
            </a:fld>
            <a:endParaRPr lang="fa-I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35A23952-B276-4DC2-A5DA-A41FB950C568}" type="datetimeFigureOut">
              <a:rPr lang="fa-IR" smtClean="0"/>
              <a:pPr>
                <a:defRPr/>
              </a:pPr>
              <a:t>يکشنبه، جمادى الثانية 05، 1432</a:t>
            </a:fld>
            <a:endParaRPr lang="fa-IR"/>
          </a:p>
        </p:txBody>
      </p:sp>
      <p:sp>
        <p:nvSpPr>
          <p:cNvPr id="6" name="Footer Placeholder 5"/>
          <p:cNvSpPr>
            <a:spLocks noGrp="1"/>
          </p:cNvSpPr>
          <p:nvPr>
            <p:ph type="ftr" sz="quarter" idx="11"/>
          </p:nvPr>
        </p:nvSpPr>
        <p:spPr/>
        <p:txBody>
          <a:bodyPr/>
          <a:lstStyle/>
          <a:p>
            <a:pPr>
              <a:defRPr/>
            </a:pPr>
            <a:endParaRPr lang="fa-IR"/>
          </a:p>
        </p:txBody>
      </p:sp>
      <p:sp>
        <p:nvSpPr>
          <p:cNvPr id="7" name="Slide Number Placeholder 6"/>
          <p:cNvSpPr>
            <a:spLocks noGrp="1"/>
          </p:cNvSpPr>
          <p:nvPr>
            <p:ph type="sldNum" sz="quarter" idx="12"/>
          </p:nvPr>
        </p:nvSpPr>
        <p:spPr/>
        <p:txBody>
          <a:bodyPr/>
          <a:lstStyle/>
          <a:p>
            <a:pPr>
              <a:defRPr/>
            </a:pPr>
            <a:fld id="{7835FCA9-3065-4D4C-8E64-A83C4658BAFB}" type="slidenum">
              <a:rPr lang="fa-IR" smtClean="0"/>
              <a:pPr>
                <a:defRPr/>
              </a:pPr>
              <a:t>‹#›</a:t>
            </a:fld>
            <a:endParaRPr lang="fa-I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27AF9041-9017-4FAB-B6AE-FBA8CEECF0F3}" type="datetimeFigureOut">
              <a:rPr lang="fa-IR" smtClean="0"/>
              <a:pPr>
                <a:defRPr/>
              </a:pPr>
              <a:t>يکشنبه، جمادى الثانية 05، 1432</a:t>
            </a:fld>
            <a:endParaRPr lang="fa-IR"/>
          </a:p>
        </p:txBody>
      </p:sp>
      <p:sp>
        <p:nvSpPr>
          <p:cNvPr id="6" name="Footer Placeholder 5"/>
          <p:cNvSpPr>
            <a:spLocks noGrp="1"/>
          </p:cNvSpPr>
          <p:nvPr>
            <p:ph type="ftr" sz="quarter" idx="11"/>
          </p:nvPr>
        </p:nvSpPr>
        <p:spPr/>
        <p:txBody>
          <a:bodyPr/>
          <a:lstStyle/>
          <a:p>
            <a:pPr>
              <a:defRPr/>
            </a:pPr>
            <a:endParaRPr lang="fa-IR"/>
          </a:p>
        </p:txBody>
      </p:sp>
      <p:sp>
        <p:nvSpPr>
          <p:cNvPr id="7" name="Slide Number Placeholder 6"/>
          <p:cNvSpPr>
            <a:spLocks noGrp="1"/>
          </p:cNvSpPr>
          <p:nvPr>
            <p:ph type="sldNum" sz="quarter" idx="12"/>
          </p:nvPr>
        </p:nvSpPr>
        <p:spPr/>
        <p:txBody>
          <a:bodyPr/>
          <a:lstStyle/>
          <a:p>
            <a:pPr>
              <a:defRPr/>
            </a:pPr>
            <a:fld id="{1E51ECD6-5F6A-446C-85E4-CAD88EFDF92F}" type="slidenum">
              <a:rPr lang="fa-IR" smtClean="0"/>
              <a:pPr>
                <a:defRPr/>
              </a:pPr>
              <a:t>‹#›</a:t>
            </a:fld>
            <a:endParaRPr lang="fa-I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777282C6-328A-41EF-8E32-99F85D7FB1C0}" type="datetimeFigureOut">
              <a:rPr lang="fa-IR" smtClean="0"/>
              <a:pPr>
                <a:defRPr/>
              </a:pPr>
              <a:t>يکشنبه، جمادى الثانية 05، 1432</a:t>
            </a:fld>
            <a:endParaRPr lang="fa-IR"/>
          </a:p>
        </p:txBody>
      </p:sp>
      <p:sp>
        <p:nvSpPr>
          <p:cNvPr id="5" name="Footer Placeholder 4"/>
          <p:cNvSpPr>
            <a:spLocks noGrp="1"/>
          </p:cNvSpPr>
          <p:nvPr>
            <p:ph type="ftr" sz="quarter" idx="11"/>
          </p:nvPr>
        </p:nvSpPr>
        <p:spPr/>
        <p:txBody>
          <a:bodyPr/>
          <a:lstStyle/>
          <a:p>
            <a:pPr>
              <a:defRPr/>
            </a:pPr>
            <a:endParaRPr lang="fa-IR"/>
          </a:p>
        </p:txBody>
      </p:sp>
      <p:sp>
        <p:nvSpPr>
          <p:cNvPr id="6" name="Slide Number Placeholder 5"/>
          <p:cNvSpPr>
            <a:spLocks noGrp="1"/>
          </p:cNvSpPr>
          <p:nvPr>
            <p:ph type="sldNum" sz="quarter" idx="12"/>
          </p:nvPr>
        </p:nvSpPr>
        <p:spPr/>
        <p:txBody>
          <a:bodyPr/>
          <a:lstStyle/>
          <a:p>
            <a:pPr>
              <a:defRPr/>
            </a:pPr>
            <a:fld id="{D93C7F5F-6BA8-48DE-98DE-C3B0B27EDBDB}" type="slidenum">
              <a:rPr lang="fa-IR" smtClean="0"/>
              <a:pPr>
                <a:defRPr/>
              </a:pPr>
              <a:t>‹#›</a:t>
            </a:fld>
            <a:endParaRPr lang="fa-I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BF04F995-2F89-469C-A0C6-28E1C9D6CAB2}" type="datetimeFigureOut">
              <a:rPr lang="fa-IR" smtClean="0"/>
              <a:pPr>
                <a:defRPr/>
              </a:pPr>
              <a:t>يکشنبه، جمادى الثانية 05، 1432</a:t>
            </a:fld>
            <a:endParaRPr lang="fa-IR"/>
          </a:p>
        </p:txBody>
      </p:sp>
      <p:sp>
        <p:nvSpPr>
          <p:cNvPr id="5" name="Footer Placeholder 4"/>
          <p:cNvSpPr>
            <a:spLocks noGrp="1"/>
          </p:cNvSpPr>
          <p:nvPr>
            <p:ph type="ftr" sz="quarter" idx="11"/>
          </p:nvPr>
        </p:nvSpPr>
        <p:spPr/>
        <p:txBody>
          <a:bodyPr/>
          <a:lstStyle/>
          <a:p>
            <a:pPr>
              <a:defRPr/>
            </a:pPr>
            <a:endParaRPr lang="fa-IR"/>
          </a:p>
        </p:txBody>
      </p:sp>
      <p:sp>
        <p:nvSpPr>
          <p:cNvPr id="6" name="Slide Number Placeholder 5"/>
          <p:cNvSpPr>
            <a:spLocks noGrp="1"/>
          </p:cNvSpPr>
          <p:nvPr>
            <p:ph type="sldNum" sz="quarter" idx="12"/>
          </p:nvPr>
        </p:nvSpPr>
        <p:spPr/>
        <p:txBody>
          <a:bodyPr/>
          <a:lstStyle/>
          <a:p>
            <a:pPr>
              <a:defRPr/>
            </a:pPr>
            <a:fld id="{94BCCBD6-4F51-44F4-9EBE-73FF43C18EAD}" type="slidenum">
              <a:rPr lang="fa-IR" smtClean="0"/>
              <a:pPr>
                <a:defRPr/>
              </a:pPr>
              <a:t>‹#›</a:t>
            </a:fld>
            <a:endParaRPr lang="fa-I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pPr>
              <a:defRPr/>
            </a:pPr>
            <a:fld id="{4CB1E1D5-2AAE-4E26-B545-36D97A9E5225}" type="datetimeFigureOut">
              <a:rPr lang="fa-IR" smtClean="0"/>
              <a:pPr>
                <a:defRPr/>
              </a:pPr>
              <a:t>يکشنبه، جمادى الثانية 05، 1432</a:t>
            </a:fld>
            <a:endParaRPr lang="fa-IR"/>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pPr>
              <a:defRPr/>
            </a:pPr>
            <a:endParaRPr lang="fa-IR"/>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pPr>
              <a:defRPr/>
            </a:pPr>
            <a:fld id="{F023E714-0BF7-4CC3-A2D0-50EA68EA1999}" type="slidenum">
              <a:rPr lang="fa-IR" smtClean="0"/>
              <a:pPr>
                <a:defRPr/>
              </a:pPr>
              <a:t>‹#›</a:t>
            </a:fld>
            <a:endParaRPr lang="fa-I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par>
    </p:tnLst>
  </p:timing>
  <p:txStyles>
    <p:titleStyle>
      <a:lvl1pPr marL="320040" indent="-320040" algn="r" defTabSz="914400" rtl="1"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28600" indent="-182880" algn="r" defTabSz="914400" rtl="1"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r" defTabSz="914400" rtl="1"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r" defTabSz="914400" rtl="1"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r" defTabSz="914400" rtl="1"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r" defTabSz="914400" rtl="1"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r" defTabSz="914400" rtl="1"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r" defTabSz="914400" rtl="1"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r" defTabSz="914400" rtl="1"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r" defTabSz="914400" rtl="1"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6.wmf"/></Relationships>
</file>

<file path=ppt/slides/_rels/slide2.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12.bin"/><Relationship Id="rId18" Type="http://schemas.openxmlformats.org/officeDocument/2006/relationships/image" Target="../media/image14.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1.wmf"/><Relationship Id="rId17" Type="http://schemas.openxmlformats.org/officeDocument/2006/relationships/oleObject" Target="../embeddings/oleObject14.bin"/><Relationship Id="rId2" Type="http://schemas.openxmlformats.org/officeDocument/2006/relationships/slideLayout" Target="../slideLayouts/slideLayout2.xml"/><Relationship Id="rId16" Type="http://schemas.openxmlformats.org/officeDocument/2006/relationships/image" Target="../media/image13.wmf"/><Relationship Id="rId20" Type="http://schemas.openxmlformats.org/officeDocument/2006/relationships/image" Target="../media/image15.wmf"/><Relationship Id="rId1" Type="http://schemas.openxmlformats.org/officeDocument/2006/relationships/vmlDrawing" Target="../drawings/vmlDrawing2.vml"/><Relationship Id="rId6" Type="http://schemas.openxmlformats.org/officeDocument/2006/relationships/image" Target="../media/image8.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10.wmf"/><Relationship Id="rId19" Type="http://schemas.openxmlformats.org/officeDocument/2006/relationships/oleObject" Target="../embeddings/oleObject15.bin"/><Relationship Id="rId4" Type="http://schemas.openxmlformats.org/officeDocument/2006/relationships/image" Target="../media/image7.wmf"/><Relationship Id="rId9" Type="http://schemas.openxmlformats.org/officeDocument/2006/relationships/oleObject" Target="../embeddings/oleObject10.bin"/><Relationship Id="rId14" Type="http://schemas.openxmlformats.org/officeDocument/2006/relationships/image" Target="../media/image12.wmf"/></Relationships>
</file>

<file path=ppt/slides/_rels/slide3.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21.bin"/><Relationship Id="rId18" Type="http://schemas.openxmlformats.org/officeDocument/2006/relationships/image" Target="../media/image23.wmf"/><Relationship Id="rId26" Type="http://schemas.openxmlformats.org/officeDocument/2006/relationships/image" Target="../media/image27.wmf"/><Relationship Id="rId3" Type="http://schemas.openxmlformats.org/officeDocument/2006/relationships/oleObject" Target="../embeddings/oleObject16.bin"/><Relationship Id="rId21" Type="http://schemas.openxmlformats.org/officeDocument/2006/relationships/oleObject" Target="../embeddings/oleObject25.bin"/><Relationship Id="rId7" Type="http://schemas.openxmlformats.org/officeDocument/2006/relationships/oleObject" Target="../embeddings/oleObject18.bin"/><Relationship Id="rId12" Type="http://schemas.openxmlformats.org/officeDocument/2006/relationships/image" Target="../media/image20.wmf"/><Relationship Id="rId17" Type="http://schemas.openxmlformats.org/officeDocument/2006/relationships/oleObject" Target="../embeddings/oleObject23.bin"/><Relationship Id="rId25" Type="http://schemas.openxmlformats.org/officeDocument/2006/relationships/oleObject" Target="../embeddings/oleObject27.bin"/><Relationship Id="rId2" Type="http://schemas.openxmlformats.org/officeDocument/2006/relationships/slideLayout" Target="../slideLayouts/slideLayout2.xml"/><Relationship Id="rId16" Type="http://schemas.openxmlformats.org/officeDocument/2006/relationships/image" Target="../media/image22.wmf"/><Relationship Id="rId20" Type="http://schemas.openxmlformats.org/officeDocument/2006/relationships/image" Target="../media/image24.wmf"/><Relationship Id="rId1" Type="http://schemas.openxmlformats.org/officeDocument/2006/relationships/vmlDrawing" Target="../drawings/vmlDrawing3.vml"/><Relationship Id="rId6" Type="http://schemas.openxmlformats.org/officeDocument/2006/relationships/image" Target="../media/image17.wmf"/><Relationship Id="rId11" Type="http://schemas.openxmlformats.org/officeDocument/2006/relationships/oleObject" Target="../embeddings/oleObject20.bin"/><Relationship Id="rId24" Type="http://schemas.openxmlformats.org/officeDocument/2006/relationships/image" Target="../media/image26.wmf"/><Relationship Id="rId5" Type="http://schemas.openxmlformats.org/officeDocument/2006/relationships/oleObject" Target="../embeddings/oleObject17.bin"/><Relationship Id="rId15" Type="http://schemas.openxmlformats.org/officeDocument/2006/relationships/oleObject" Target="../embeddings/oleObject22.bin"/><Relationship Id="rId23" Type="http://schemas.openxmlformats.org/officeDocument/2006/relationships/oleObject" Target="../embeddings/oleObject26.bin"/><Relationship Id="rId28" Type="http://schemas.openxmlformats.org/officeDocument/2006/relationships/image" Target="../media/image28.wmf"/><Relationship Id="rId10" Type="http://schemas.openxmlformats.org/officeDocument/2006/relationships/image" Target="../media/image19.wmf"/><Relationship Id="rId19" Type="http://schemas.openxmlformats.org/officeDocument/2006/relationships/oleObject" Target="../embeddings/oleObject24.bin"/><Relationship Id="rId4" Type="http://schemas.openxmlformats.org/officeDocument/2006/relationships/image" Target="../media/image16.wmf"/><Relationship Id="rId9" Type="http://schemas.openxmlformats.org/officeDocument/2006/relationships/oleObject" Target="../embeddings/oleObject19.bin"/><Relationship Id="rId14" Type="http://schemas.openxmlformats.org/officeDocument/2006/relationships/image" Target="../media/image21.wmf"/><Relationship Id="rId22" Type="http://schemas.openxmlformats.org/officeDocument/2006/relationships/image" Target="../media/image25.wmf"/><Relationship Id="rId27" Type="http://schemas.openxmlformats.org/officeDocument/2006/relationships/oleObject" Target="../embeddings/oleObject28.bin"/></Relationships>
</file>

<file path=ppt/slides/_rels/slide4.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34.bin"/><Relationship Id="rId18" Type="http://schemas.openxmlformats.org/officeDocument/2006/relationships/image" Target="../media/image36.wmf"/><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33.wmf"/><Relationship Id="rId17" Type="http://schemas.openxmlformats.org/officeDocument/2006/relationships/oleObject" Target="../embeddings/oleObject36.bin"/><Relationship Id="rId2" Type="http://schemas.openxmlformats.org/officeDocument/2006/relationships/slideLayout" Target="../slideLayouts/slideLayout2.xml"/><Relationship Id="rId16" Type="http://schemas.openxmlformats.org/officeDocument/2006/relationships/image" Target="../media/image35.wmf"/><Relationship Id="rId1" Type="http://schemas.openxmlformats.org/officeDocument/2006/relationships/vmlDrawing" Target="../drawings/vmlDrawing4.vml"/><Relationship Id="rId6" Type="http://schemas.openxmlformats.org/officeDocument/2006/relationships/image" Target="../media/image30.wmf"/><Relationship Id="rId11" Type="http://schemas.openxmlformats.org/officeDocument/2006/relationships/oleObject" Target="../embeddings/oleObject33.bin"/><Relationship Id="rId5" Type="http://schemas.openxmlformats.org/officeDocument/2006/relationships/oleObject" Target="../embeddings/oleObject30.bin"/><Relationship Id="rId15" Type="http://schemas.openxmlformats.org/officeDocument/2006/relationships/oleObject" Target="../embeddings/oleObject35.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32.bin"/><Relationship Id="rId14" Type="http://schemas.openxmlformats.org/officeDocument/2006/relationships/image" Target="../media/image34.wmf"/></Relationships>
</file>

<file path=ppt/slides/_rels/slide5.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38.wmf"/><Relationship Id="rId5" Type="http://schemas.openxmlformats.org/officeDocument/2006/relationships/oleObject" Target="../embeddings/oleObject38.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4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5" name="Rectangle 5"/>
          <p:cNvSpPr txBox="1">
            <a:spLocks/>
          </p:cNvSpPr>
          <p:nvPr/>
        </p:nvSpPr>
        <p:spPr bwMode="auto">
          <a:xfrm>
            <a:off x="457200" y="928688"/>
            <a:ext cx="8229600"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ts val="3000"/>
              </a:lnSpc>
            </a:pPr>
            <a:r>
              <a:rPr lang="fa-IR" sz="2000" dirty="0">
                <a:solidFill>
                  <a:srgbClr val="DC0000"/>
                </a:solidFill>
                <a:cs typeface="B Titr" pitchFamily="2" charset="-78"/>
              </a:rPr>
              <a:t>مسئله</a:t>
            </a:r>
            <a:r>
              <a:rPr lang="en-US" sz="2000" dirty="0">
                <a:solidFill>
                  <a:srgbClr val="DC0000"/>
                </a:solidFill>
                <a:cs typeface="B Titr" pitchFamily="2" charset="-78"/>
              </a:rPr>
              <a:t> </a:t>
            </a:r>
            <a:r>
              <a:rPr lang="fa-IR" sz="2000" dirty="0">
                <a:solidFill>
                  <a:srgbClr val="DC0000"/>
                </a:solidFill>
                <a:cs typeface="B Titr" pitchFamily="2" charset="-78"/>
              </a:rPr>
              <a:t>زمان</a:t>
            </a:r>
            <a:r>
              <a:rPr lang="en-US" sz="2000" dirty="0">
                <a:solidFill>
                  <a:srgbClr val="DC0000"/>
                </a:solidFill>
                <a:cs typeface="B Titr" pitchFamily="2" charset="-78"/>
              </a:rPr>
              <a:t> </a:t>
            </a:r>
            <a:r>
              <a:rPr lang="fa-IR" sz="2000" dirty="0">
                <a:solidFill>
                  <a:srgbClr val="DC0000"/>
                </a:solidFill>
                <a:cs typeface="B Titr" pitchFamily="2" charset="-78"/>
              </a:rPr>
              <a:t>بندی </a:t>
            </a:r>
            <a:r>
              <a:rPr lang="en-US" sz="2000" dirty="0">
                <a:solidFill>
                  <a:srgbClr val="DC0000"/>
                </a:solidFill>
                <a:cs typeface="B Titr" pitchFamily="2" charset="-78"/>
              </a:rPr>
              <a:t> </a:t>
            </a:r>
            <a:r>
              <a:rPr lang="en-US" sz="2000" dirty="0">
                <a:solidFill>
                  <a:srgbClr val="DC0000"/>
                </a:solidFill>
                <a:latin typeface="Arial Black" pitchFamily="34" charset="0"/>
                <a:cs typeface="B Titr" pitchFamily="2" charset="-78"/>
              </a:rPr>
              <a:t>(Scheduling)</a:t>
            </a:r>
            <a:r>
              <a:rPr lang="fa-IR" sz="2000" dirty="0">
                <a:solidFill>
                  <a:srgbClr val="DC0000"/>
                </a:solidFill>
                <a:cs typeface="B Titr" pitchFamily="2" charset="-78"/>
              </a:rPr>
              <a:t>:</a:t>
            </a:r>
            <a:endParaRPr lang="en-US" sz="2000" dirty="0">
              <a:solidFill>
                <a:srgbClr val="DC0000"/>
              </a:solidFill>
              <a:cs typeface="B Titr" pitchFamily="2" charset="-78"/>
            </a:endParaRPr>
          </a:p>
          <a:p>
            <a:pPr algn="just" eaLnBrk="1" hangingPunct="1">
              <a:lnSpc>
                <a:spcPts val="3000"/>
              </a:lnSpc>
            </a:pPr>
            <a:r>
              <a:rPr lang="fa-IR" sz="2000" dirty="0">
                <a:cs typeface="B Lotus" pitchFamily="2" charset="-78"/>
              </a:rPr>
              <a:t>مسئله زمان</a:t>
            </a:r>
            <a:r>
              <a:rPr lang="en-US" sz="2000" dirty="0">
                <a:cs typeface="B Lotus" pitchFamily="2" charset="-78"/>
              </a:rPr>
              <a:t> </a:t>
            </a:r>
            <a:r>
              <a:rPr lang="fa-IR" sz="2000" dirty="0">
                <a:cs typeface="B Lotus" pitchFamily="2" charset="-78"/>
              </a:rPr>
              <a:t>بندی یکی از پر اهمیت</a:t>
            </a:r>
            <a:r>
              <a:rPr lang="en-US" sz="2000" dirty="0">
                <a:cs typeface="B Lotus" pitchFamily="2" charset="-78"/>
              </a:rPr>
              <a:t> </a:t>
            </a:r>
            <a:r>
              <a:rPr lang="fa-IR" sz="2000" dirty="0">
                <a:cs typeface="B Lotus" pitchFamily="2" charset="-78"/>
              </a:rPr>
              <a:t>ترین مسائل در تولید سیستم عامل</a:t>
            </a:r>
            <a:r>
              <a:rPr lang="en-US" sz="2000" dirty="0">
                <a:cs typeface="B Lotus" pitchFamily="2" charset="-78"/>
              </a:rPr>
              <a:t> </a:t>
            </a:r>
            <a:r>
              <a:rPr lang="fa-IR" sz="2000" dirty="0">
                <a:cs typeface="B Lotus" pitchFamily="2" charset="-78"/>
              </a:rPr>
              <a:t>ها می</a:t>
            </a:r>
            <a:r>
              <a:rPr lang="en-US" sz="2000" dirty="0">
                <a:cs typeface="B Lotus" pitchFamily="2" charset="-78"/>
              </a:rPr>
              <a:t> </a:t>
            </a:r>
            <a:r>
              <a:rPr lang="fa-IR" sz="2000" dirty="0">
                <a:cs typeface="B Lotus" pitchFamily="2" charset="-78"/>
              </a:rPr>
              <a:t>باشد. زمان</a:t>
            </a:r>
            <a:r>
              <a:rPr lang="en-US" sz="2000" dirty="0">
                <a:cs typeface="B Lotus" pitchFamily="2" charset="-78"/>
              </a:rPr>
              <a:t> </a:t>
            </a:r>
            <a:r>
              <a:rPr lang="fa-IR" sz="2000" dirty="0">
                <a:cs typeface="B Lotus" pitchFamily="2" charset="-78"/>
              </a:rPr>
              <a:t>بندی خود به دو دسته تقسیم می</a:t>
            </a:r>
            <a:r>
              <a:rPr lang="en-US" sz="2000" dirty="0">
                <a:cs typeface="B Lotus" pitchFamily="2" charset="-78"/>
              </a:rPr>
              <a:t> </a:t>
            </a:r>
            <a:r>
              <a:rPr lang="fa-IR" sz="2000" dirty="0">
                <a:cs typeface="B Lotus" pitchFamily="2" charset="-78"/>
              </a:rPr>
              <a:t>شود.</a:t>
            </a:r>
            <a:endParaRPr lang="en-US" sz="2000" dirty="0">
              <a:cs typeface="B Lotus" pitchFamily="2" charset="-78"/>
            </a:endParaRPr>
          </a:p>
          <a:p>
            <a:pPr algn="just" eaLnBrk="1" hangingPunct="1">
              <a:lnSpc>
                <a:spcPts val="3000"/>
              </a:lnSpc>
            </a:pPr>
            <a:endParaRPr lang="en-US" sz="3200" dirty="0">
              <a:cs typeface="B Lotus" pitchFamily="2" charset="-78"/>
            </a:endParaRPr>
          </a:p>
          <a:p>
            <a:pPr algn="just" eaLnBrk="1" hangingPunct="1">
              <a:lnSpc>
                <a:spcPts val="3000"/>
              </a:lnSpc>
            </a:pPr>
            <a:r>
              <a:rPr lang="fa-IR" sz="2000" dirty="0">
                <a:solidFill>
                  <a:srgbClr val="000032"/>
                </a:solidFill>
                <a:cs typeface="B Lotus" pitchFamily="2" charset="-78"/>
              </a:rPr>
              <a:t>یک مثال از زمان</a:t>
            </a:r>
            <a:r>
              <a:rPr lang="en-US" sz="2000" dirty="0">
                <a:solidFill>
                  <a:srgbClr val="000032"/>
                </a:solidFill>
                <a:cs typeface="B Lotus" pitchFamily="2" charset="-78"/>
              </a:rPr>
              <a:t> </a:t>
            </a:r>
            <a:r>
              <a:rPr lang="fa-IR" sz="2000" dirty="0">
                <a:solidFill>
                  <a:srgbClr val="000032"/>
                </a:solidFill>
                <a:cs typeface="B Lotus" pitchFamily="2" charset="-78"/>
              </a:rPr>
              <a:t>بندی ساده :</a:t>
            </a:r>
            <a:r>
              <a:rPr lang="fa-IR" sz="2000" dirty="0">
                <a:cs typeface="B Lotus" pitchFamily="2" charset="-78"/>
              </a:rPr>
              <a:t> فرض کنید یک </a:t>
            </a:r>
            <a:r>
              <a:rPr lang="en-US" sz="2000" dirty="0">
                <a:latin typeface="Times New Roman" pitchFamily="18" charset="0"/>
                <a:cs typeface="Times New Roman" pitchFamily="18" charset="0"/>
              </a:rPr>
              <a:t>Server</a:t>
            </a:r>
            <a:r>
              <a:rPr lang="fa-IR" sz="2000" dirty="0">
                <a:cs typeface="B Lotus" pitchFamily="2" charset="-78"/>
              </a:rPr>
              <a:t> داریم که می</a:t>
            </a:r>
            <a:r>
              <a:rPr lang="en-US" sz="2000" dirty="0">
                <a:cs typeface="B Lotus" pitchFamily="2" charset="-78"/>
              </a:rPr>
              <a:t> </a:t>
            </a:r>
            <a:r>
              <a:rPr lang="fa-IR" sz="2000" dirty="0">
                <a:cs typeface="B Lotus" pitchFamily="2" charset="-78"/>
              </a:rPr>
              <a:t>خواهد به </a:t>
            </a:r>
            <a:r>
              <a:rPr lang="en-US" sz="2000" dirty="0">
                <a:latin typeface="Times New Roman" pitchFamily="18" charset="0"/>
                <a:cs typeface="Times New Roman" pitchFamily="18" charset="0"/>
              </a:rPr>
              <a:t>p</a:t>
            </a:r>
            <a:r>
              <a:rPr lang="fa-IR" sz="2000" dirty="0">
                <a:cs typeface="B Lotus" pitchFamily="2" charset="-78"/>
              </a:rPr>
              <a:t> مشتری سرویس دهد. فرض براین است که زمان لازم برای سرویس هرمشتری</a:t>
            </a:r>
            <a:r>
              <a:rPr lang="en-US" sz="2000" dirty="0">
                <a:cs typeface="B Lotus" pitchFamily="2" charset="-78"/>
              </a:rPr>
              <a:t> </a:t>
            </a:r>
            <a:r>
              <a:rPr lang="fa-IR" sz="2000" dirty="0">
                <a:cs typeface="B Lotus" pitchFamily="2" charset="-78"/>
              </a:rPr>
              <a:t>باشد. در صورتی که تعداد مشتریان ثابت باشد نحوه سرویس دهی چگونه باشد تا متوسط زمان انتظار آنها مینیمم باشد.</a:t>
            </a:r>
            <a:endParaRPr lang="en-US" sz="2000" dirty="0">
              <a:cs typeface="B Lotus" pitchFamily="2" charset="-78"/>
            </a:endParaRPr>
          </a:p>
          <a:p>
            <a:pPr algn="just" eaLnBrk="1" hangingPunct="1">
              <a:lnSpc>
                <a:spcPts val="3000"/>
              </a:lnSpc>
            </a:pPr>
            <a:endParaRPr lang="en-US" sz="2000" dirty="0">
              <a:cs typeface="B Lotus" pitchFamily="2" charset="-78"/>
            </a:endParaRPr>
          </a:p>
          <a:p>
            <a:pPr algn="just" eaLnBrk="1" hangingPunct="1">
              <a:lnSpc>
                <a:spcPts val="3000"/>
              </a:lnSpc>
            </a:pPr>
            <a:endParaRPr lang="en-US" sz="2000" dirty="0">
              <a:solidFill>
                <a:srgbClr val="000032"/>
              </a:solidFill>
              <a:cs typeface="B Lotus" pitchFamily="2" charset="-78"/>
            </a:endParaRPr>
          </a:p>
          <a:p>
            <a:pPr algn="just" eaLnBrk="1" hangingPunct="1">
              <a:lnSpc>
                <a:spcPts val="3000"/>
              </a:lnSpc>
            </a:pPr>
            <a:endParaRPr lang="en-US" sz="2000" dirty="0">
              <a:solidFill>
                <a:srgbClr val="000032"/>
              </a:solidFill>
              <a:cs typeface="B Lotus" pitchFamily="2" charset="-78"/>
            </a:endParaRPr>
          </a:p>
          <a:p>
            <a:pPr algn="just" eaLnBrk="1" hangingPunct="1">
              <a:lnSpc>
                <a:spcPts val="3000"/>
              </a:lnSpc>
            </a:pPr>
            <a:endParaRPr lang="fa-IR" sz="2000" dirty="0">
              <a:cs typeface="B Lotus" pitchFamily="2" charset="-78"/>
            </a:endParaRPr>
          </a:p>
          <a:p>
            <a:pPr algn="just" eaLnBrk="1" hangingPunct="1">
              <a:lnSpc>
                <a:spcPts val="3000"/>
              </a:lnSpc>
            </a:pPr>
            <a:endParaRPr lang="fa-IR" sz="2000" dirty="0">
              <a:cs typeface="B Lotus" pitchFamily="2" charset="-78"/>
            </a:endParaRPr>
          </a:p>
          <a:p>
            <a:pPr algn="just" eaLnBrk="1" hangingPunct="1">
              <a:lnSpc>
                <a:spcPts val="3000"/>
              </a:lnSpc>
            </a:pPr>
            <a:endParaRPr lang="fa-IR" sz="2000" dirty="0">
              <a:cs typeface="B Lotus" pitchFamily="2" charset="-78"/>
            </a:endParaRPr>
          </a:p>
          <a:p>
            <a:pPr eaLnBrk="1" hangingPunct="1">
              <a:lnSpc>
                <a:spcPts val="3000"/>
              </a:lnSpc>
            </a:pPr>
            <a:endParaRPr lang="en-US" sz="2000" dirty="0">
              <a:solidFill>
                <a:srgbClr val="DC0000"/>
              </a:solidFill>
              <a:cs typeface="B Lotus" pitchFamily="2" charset="-78"/>
            </a:endParaRPr>
          </a:p>
        </p:txBody>
      </p:sp>
      <p:graphicFrame>
        <p:nvGraphicFramePr>
          <p:cNvPr id="25" name="Table 24"/>
          <p:cNvGraphicFramePr>
            <a:graphicFrameLocks noGrp="1"/>
          </p:cNvGraphicFramePr>
          <p:nvPr/>
        </p:nvGraphicFramePr>
        <p:xfrm>
          <a:off x="428625" y="1785938"/>
          <a:ext cx="3071818" cy="714376"/>
        </p:xfrm>
        <a:graphic>
          <a:graphicData uri="http://schemas.openxmlformats.org/drawingml/2006/table">
            <a:tbl>
              <a:tblPr/>
              <a:tblGrid>
                <a:gridCol w="1285609"/>
                <a:gridCol w="162532"/>
                <a:gridCol w="1623677"/>
              </a:tblGrid>
              <a:tr h="357188">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Scheduling</a:t>
                      </a:r>
                    </a:p>
                  </a:txBody>
                  <a:tcPr marL="68566" marR="68566" marT="0" marB="0" anchor="ctr" horzOverflow="overflow">
                    <a:lnL>
                      <a:noFill/>
                    </a:lnL>
                    <a:lnR>
                      <a:noFill/>
                    </a:lnR>
                    <a:lnT>
                      <a:noFill/>
                    </a:lnT>
                    <a:lnB>
                      <a:noFill/>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66" marR="68566" marT="0" marB="0" anchor="ctr"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Simple</a:t>
                      </a:r>
                    </a:p>
                  </a:txBody>
                  <a:tcPr marL="68566" marR="68566" marT="0" marB="0" anchor="ctr" horzOverflow="overflow">
                    <a:lnL>
                      <a:noFill/>
                    </a:lnL>
                    <a:lnR>
                      <a:noFill/>
                    </a:lnR>
                    <a:lnT>
                      <a:noFill/>
                    </a:lnT>
                    <a:lnB>
                      <a:noFill/>
                    </a:lnB>
                    <a:lnTlToBr>
                      <a:noFill/>
                    </a:lnTlToBr>
                    <a:lnBlToTr>
                      <a:noFill/>
                    </a:lnBlToTr>
                    <a:noFill/>
                  </a:tcPr>
                </a:tc>
              </a:tr>
              <a:tr h="357188">
                <a:tc vMerge="1">
                  <a:txBody>
                    <a:bodyPr/>
                    <a:lstStyle/>
                    <a:p>
                      <a:endParaRPr lang="en-US"/>
                    </a:p>
                  </a:txBody>
                  <a:tcPr/>
                </a:tc>
                <a:tc vMerge="1">
                  <a:txBody>
                    <a:bodyPr/>
                    <a:lstStyle/>
                    <a:p>
                      <a:endParaRPr lang="en-US"/>
                    </a:p>
                  </a:txBody>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With deadline</a:t>
                      </a:r>
                    </a:p>
                  </a:txBody>
                  <a:tcPr marL="68566" marR="68566" marT="0" marB="0" anchor="ctr" horzOverflow="overflow">
                    <a:lnL>
                      <a:noFill/>
                    </a:lnL>
                    <a:lnR>
                      <a:noFill/>
                    </a:lnR>
                    <a:lnT>
                      <a:noFill/>
                    </a:lnT>
                    <a:lnB>
                      <a:noFill/>
                    </a:lnB>
                    <a:lnTlToBr>
                      <a:noFill/>
                    </a:lnTlToBr>
                    <a:lnBlToTr>
                      <a:noFill/>
                    </a:lnBlToTr>
                    <a:noFill/>
                  </a:tcPr>
                </a:tc>
              </a:tr>
            </a:tbl>
          </a:graphicData>
        </a:graphic>
      </p:graphicFrame>
      <p:sp>
        <p:nvSpPr>
          <p:cNvPr id="55312" name="AutoShape 13"/>
          <p:cNvSpPr>
            <a:spLocks/>
          </p:cNvSpPr>
          <p:nvPr/>
        </p:nvSpPr>
        <p:spPr bwMode="auto">
          <a:xfrm>
            <a:off x="1700213" y="1890713"/>
            <a:ext cx="142875" cy="571500"/>
          </a:xfrm>
          <a:prstGeom prst="leftBrace">
            <a:avLst>
              <a:gd name="adj1" fmla="val 38722"/>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5313" name="Group 36"/>
          <p:cNvGrpSpPr>
            <a:grpSpLocks/>
          </p:cNvGrpSpPr>
          <p:nvPr/>
        </p:nvGrpSpPr>
        <p:grpSpPr bwMode="auto">
          <a:xfrm>
            <a:off x="530225" y="3929063"/>
            <a:ext cx="2112963" cy="2400300"/>
            <a:chOff x="530095" y="3929066"/>
            <a:chExt cx="2113079" cy="2400374"/>
          </a:xfrm>
        </p:grpSpPr>
        <p:graphicFrame>
          <p:nvGraphicFramePr>
            <p:cNvPr id="55299" name="Object 19"/>
            <p:cNvGraphicFramePr>
              <a:graphicFrameLocks noChangeAspect="1"/>
            </p:cNvGraphicFramePr>
            <p:nvPr/>
          </p:nvGraphicFramePr>
          <p:xfrm>
            <a:off x="571472" y="3929066"/>
            <a:ext cx="668068" cy="384139"/>
          </p:xfrm>
          <a:graphic>
            <a:graphicData uri="http://schemas.openxmlformats.org/presentationml/2006/ole">
              <mc:AlternateContent xmlns:mc="http://schemas.openxmlformats.org/markup-compatibility/2006">
                <mc:Choice xmlns:v="urn:schemas-microsoft-com:vml" Requires="v">
                  <p:oleObj spid="_x0000_s55341" name="Equation" r:id="rId3" imgW="380835" imgH="215806" progId="Equation.3">
                    <p:embed/>
                  </p:oleObj>
                </mc:Choice>
                <mc:Fallback>
                  <p:oleObj name="Equation" r:id="rId3" imgW="380835" imgH="215806"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472" y="3929066"/>
                          <a:ext cx="668068" cy="384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300" name="Object 17"/>
            <p:cNvGraphicFramePr>
              <a:graphicFrameLocks noChangeAspect="1"/>
            </p:cNvGraphicFramePr>
            <p:nvPr/>
          </p:nvGraphicFramePr>
          <p:xfrm>
            <a:off x="571472" y="4330745"/>
            <a:ext cx="1135715" cy="384139"/>
          </p:xfrm>
          <a:graphic>
            <a:graphicData uri="http://schemas.openxmlformats.org/presentationml/2006/ole">
              <mc:AlternateContent xmlns:mc="http://schemas.openxmlformats.org/markup-compatibility/2006">
                <mc:Choice xmlns:v="urn:schemas-microsoft-com:vml" Requires="v">
                  <p:oleObj spid="_x0000_s55342" name="Equation" r:id="rId5" imgW="647419" imgH="215806" progId="Equation.3">
                    <p:embed/>
                  </p:oleObj>
                </mc:Choice>
                <mc:Fallback>
                  <p:oleObj name="Equation" r:id="rId5" imgW="647419" imgH="215806"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472" y="4330745"/>
                          <a:ext cx="1135715" cy="384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301" name="Object 16"/>
            <p:cNvGraphicFramePr>
              <a:graphicFrameLocks noChangeAspect="1"/>
            </p:cNvGraphicFramePr>
            <p:nvPr/>
          </p:nvGraphicFramePr>
          <p:xfrm>
            <a:off x="913669" y="4718588"/>
            <a:ext cx="133613" cy="334034"/>
          </p:xfrm>
          <a:graphic>
            <a:graphicData uri="http://schemas.openxmlformats.org/presentationml/2006/ole">
              <mc:AlternateContent xmlns:mc="http://schemas.openxmlformats.org/markup-compatibility/2006">
                <mc:Choice xmlns:v="urn:schemas-microsoft-com:vml" Requires="v">
                  <p:oleObj spid="_x0000_s55343" name="Equation" r:id="rId7" imgW="76101" imgH="190252" progId="Equation.3">
                    <p:embed/>
                  </p:oleObj>
                </mc:Choice>
                <mc:Fallback>
                  <p:oleObj name="Equation" r:id="rId7" imgW="76101" imgH="190252"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3669" y="4718588"/>
                          <a:ext cx="133613" cy="334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302" name="Object 15"/>
            <p:cNvGraphicFramePr>
              <a:graphicFrameLocks noChangeAspect="1"/>
            </p:cNvGraphicFramePr>
            <p:nvPr/>
          </p:nvGraphicFramePr>
          <p:xfrm>
            <a:off x="582761" y="4869049"/>
            <a:ext cx="1052207" cy="751576"/>
          </p:xfrm>
          <a:graphic>
            <a:graphicData uri="http://schemas.openxmlformats.org/presentationml/2006/ole">
              <mc:AlternateContent xmlns:mc="http://schemas.openxmlformats.org/markup-compatibility/2006">
                <mc:Choice xmlns:v="urn:schemas-microsoft-com:vml" Requires="v">
                  <p:oleObj spid="_x0000_s55344" name="Equation" r:id="rId9" imgW="596900" imgH="431800" progId="Equation.3">
                    <p:embed/>
                  </p:oleObj>
                </mc:Choice>
                <mc:Fallback>
                  <p:oleObj name="Equation" r:id="rId9" imgW="596900" imgH="4318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2761" y="4869049"/>
                          <a:ext cx="1052207" cy="7515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303" name="Object 14"/>
            <p:cNvGraphicFramePr>
              <a:graphicFrameLocks noChangeAspect="1"/>
            </p:cNvGraphicFramePr>
            <p:nvPr/>
          </p:nvGraphicFramePr>
          <p:xfrm>
            <a:off x="904058" y="5583429"/>
            <a:ext cx="133613" cy="334034"/>
          </p:xfrm>
          <a:graphic>
            <a:graphicData uri="http://schemas.openxmlformats.org/presentationml/2006/ole">
              <mc:AlternateContent xmlns:mc="http://schemas.openxmlformats.org/markup-compatibility/2006">
                <mc:Choice xmlns:v="urn:schemas-microsoft-com:vml" Requires="v">
                  <p:oleObj spid="_x0000_s55345" name="Equation" r:id="rId11" imgW="76101" imgH="190252" progId="Equation.3">
                    <p:embed/>
                  </p:oleObj>
                </mc:Choice>
                <mc:Fallback>
                  <p:oleObj name="Equation" r:id="rId11" imgW="76101" imgH="190252"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04058" y="5583429"/>
                          <a:ext cx="133613" cy="334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16" name="Rectangle 33"/>
            <p:cNvSpPr>
              <a:spLocks noChangeArrowheads="1"/>
            </p:cNvSpPr>
            <p:nvPr/>
          </p:nvSpPr>
          <p:spPr bwMode="auto">
            <a:xfrm>
              <a:off x="530095" y="5929330"/>
              <a:ext cx="21130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Low"/>
              <a:r>
                <a:rPr lang="fa-IR">
                  <a:latin typeface="Times New Roman" pitchFamily="18" charset="0"/>
                  <a:ea typeface="Times New Roman" pitchFamily="18" charset="0"/>
                  <a:cs typeface="B Lotus" pitchFamily="2" charset="-78"/>
                </a:rPr>
                <a:t>زمان لازم برای مشتری</a:t>
              </a:r>
              <a:r>
                <a:rPr lang="en-US">
                  <a:latin typeface="Times New Roman" pitchFamily="18" charset="0"/>
                  <a:ea typeface="Times New Roman" pitchFamily="18" charset="0"/>
                  <a:cs typeface="B Lotus" pitchFamily="2" charset="-78"/>
                </a:rPr>
                <a:t> k </a:t>
              </a:r>
              <a:r>
                <a:rPr lang="fa-IR">
                  <a:latin typeface="Times New Roman" pitchFamily="18" charset="0"/>
                  <a:ea typeface="Times New Roman" pitchFamily="18" charset="0"/>
                  <a:cs typeface="B Lotus" pitchFamily="2" charset="-78"/>
                </a:rPr>
                <a:t>ام</a:t>
              </a:r>
              <a:endParaRPr lang="en-US" sz="2000">
                <a:latin typeface="Times New Roman" pitchFamily="18" charset="0"/>
                <a:ea typeface="Times New Roman" pitchFamily="18" charset="0"/>
                <a:cs typeface="B Lotus" pitchFamily="2" charset="-78"/>
              </a:endParaRPr>
            </a:p>
          </p:txBody>
        </p:sp>
      </p:grpSp>
      <p:grpSp>
        <p:nvGrpSpPr>
          <p:cNvPr id="55314" name="Group 35"/>
          <p:cNvGrpSpPr>
            <a:grpSpLocks/>
          </p:cNvGrpSpPr>
          <p:nvPr/>
        </p:nvGrpSpPr>
        <p:grpSpPr bwMode="auto">
          <a:xfrm>
            <a:off x="3890963" y="4391025"/>
            <a:ext cx="2609850" cy="1181100"/>
            <a:chOff x="3929058" y="4320123"/>
            <a:chExt cx="2609339" cy="1180579"/>
          </a:xfrm>
        </p:grpSpPr>
        <p:graphicFrame>
          <p:nvGraphicFramePr>
            <p:cNvPr id="55298" name="Object 18"/>
            <p:cNvGraphicFramePr>
              <a:graphicFrameLocks noChangeAspect="1"/>
            </p:cNvGraphicFramePr>
            <p:nvPr/>
          </p:nvGraphicFramePr>
          <p:xfrm>
            <a:off x="5686611" y="4320123"/>
            <a:ext cx="851786" cy="1068908"/>
          </p:xfrm>
          <a:graphic>
            <a:graphicData uri="http://schemas.openxmlformats.org/presentationml/2006/ole">
              <mc:AlternateContent xmlns:mc="http://schemas.openxmlformats.org/markup-compatibility/2006">
                <mc:Choice xmlns:v="urn:schemas-microsoft-com:vml" Requires="v">
                  <p:oleObj spid="_x0000_s55346" name="Equation" r:id="rId13" imgW="482391" imgH="609336" progId="Equation.3">
                    <p:embed/>
                  </p:oleObj>
                </mc:Choice>
                <mc:Fallback>
                  <p:oleObj name="Equation" r:id="rId13" imgW="482391" imgH="609336"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86611" y="4320123"/>
                          <a:ext cx="851786" cy="10689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15" name="Rectangle 34"/>
            <p:cNvSpPr>
              <a:spLocks noChangeArrowheads="1"/>
            </p:cNvSpPr>
            <p:nvPr/>
          </p:nvSpPr>
          <p:spPr bwMode="auto">
            <a:xfrm>
              <a:off x="3929058" y="4572008"/>
              <a:ext cx="1785949" cy="92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fa-IR">
                  <a:latin typeface="Times New Roman" pitchFamily="18" charset="0"/>
                  <a:ea typeface="Times New Roman" pitchFamily="18" charset="0"/>
                  <a:cs typeface="B Lotus" pitchFamily="2" charset="-78"/>
                </a:rPr>
                <a:t>متوسط زمان انتظار برای سرویس هر یک از </a:t>
              </a:r>
              <a:r>
                <a:rPr lang="en-US">
                  <a:latin typeface="Times New Roman" pitchFamily="18" charset="0"/>
                  <a:ea typeface="Times New Roman" pitchFamily="18" charset="0"/>
                  <a:cs typeface="B Lotus" pitchFamily="2" charset="-78"/>
                </a:rPr>
                <a:t>n</a:t>
              </a:r>
              <a:r>
                <a:rPr lang="fa-IR">
                  <a:latin typeface="Times New Roman" pitchFamily="18" charset="0"/>
                  <a:ea typeface="Times New Roman" pitchFamily="18" charset="0"/>
                  <a:cs typeface="B Lotus" pitchFamily="2" charset="-78"/>
                </a:rPr>
                <a:t> مشتری</a:t>
              </a:r>
              <a:endParaRPr lang="en-US">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32" name="Rectangle 5"/>
          <p:cNvSpPr txBox="1">
            <a:spLocks/>
          </p:cNvSpPr>
          <p:nvPr/>
        </p:nvSpPr>
        <p:spPr bwMode="auto">
          <a:xfrm>
            <a:off x="457200" y="928688"/>
            <a:ext cx="8229600"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ts val="3000"/>
              </a:lnSpc>
            </a:pPr>
            <a:r>
              <a:rPr lang="fa-IR" sz="2000" dirty="0">
                <a:solidFill>
                  <a:srgbClr val="000032"/>
                </a:solidFill>
                <a:cs typeface="B Lotus" pitchFamily="2" charset="-78"/>
              </a:rPr>
              <a:t>مثال :</a:t>
            </a:r>
            <a:r>
              <a:rPr lang="en-US" sz="2000" dirty="0">
                <a:solidFill>
                  <a:srgbClr val="000032"/>
                </a:solidFill>
                <a:cs typeface="B Lotus" pitchFamily="2" charset="-78"/>
              </a:rPr>
              <a:t>            </a:t>
            </a:r>
            <a:r>
              <a:rPr lang="fa-IR" sz="2000" dirty="0">
                <a:solidFill>
                  <a:srgbClr val="000032"/>
                </a:solidFill>
                <a:cs typeface="B Lotus" pitchFamily="2" charset="-78"/>
              </a:rPr>
              <a:t> </a:t>
            </a:r>
            <a:r>
              <a:rPr lang="fa-IR" sz="2000" dirty="0">
                <a:cs typeface="B Lotus" pitchFamily="2" charset="-78"/>
              </a:rPr>
              <a:t>مشتری داریم</a:t>
            </a:r>
            <a:r>
              <a:rPr lang="en-US" sz="2000" dirty="0">
                <a:cs typeface="B Lotus" pitchFamily="2" charset="-78"/>
              </a:rPr>
              <a:t> </a:t>
            </a:r>
            <a:r>
              <a:rPr lang="fa-IR" sz="2000" dirty="0">
                <a:cs typeface="B Lotus" pitchFamily="2" charset="-78"/>
              </a:rPr>
              <a:t>:  </a:t>
            </a:r>
            <a:r>
              <a:rPr lang="en-US" sz="2000" dirty="0">
                <a:cs typeface="B Lotus" pitchFamily="2" charset="-78"/>
              </a:rPr>
              <a:t>                         </a:t>
            </a:r>
            <a:r>
              <a:rPr lang="fa-IR" sz="2000" dirty="0">
                <a:cs typeface="B Lotus" pitchFamily="2" charset="-78"/>
              </a:rPr>
              <a:t> می</a:t>
            </a:r>
            <a:r>
              <a:rPr lang="en-US" sz="2000" dirty="0">
                <a:cs typeface="B Lotus" pitchFamily="2" charset="-78"/>
              </a:rPr>
              <a:t> </a:t>
            </a:r>
            <a:r>
              <a:rPr lang="fa-IR" sz="2000" dirty="0">
                <a:cs typeface="B Lotus" pitchFamily="2" charset="-78"/>
              </a:rPr>
              <a:t>باشد.</a:t>
            </a:r>
            <a:endParaRPr lang="en-US" sz="2000" dirty="0">
              <a:cs typeface="B Lotus" pitchFamily="2" charset="-78"/>
            </a:endParaRPr>
          </a:p>
          <a:p>
            <a:pPr algn="just" eaLnBrk="1" hangingPunct="1">
              <a:lnSpc>
                <a:spcPts val="3000"/>
              </a:lnSpc>
            </a:pPr>
            <a:endParaRPr lang="en-US" sz="2000" dirty="0">
              <a:cs typeface="B Lotus" pitchFamily="2" charset="-78"/>
            </a:endParaRPr>
          </a:p>
          <a:p>
            <a:pPr algn="just" eaLnBrk="1" hangingPunct="1">
              <a:lnSpc>
                <a:spcPts val="3000"/>
              </a:lnSpc>
            </a:pPr>
            <a:endParaRPr lang="en-US" sz="2000" dirty="0">
              <a:solidFill>
                <a:srgbClr val="000032"/>
              </a:solidFill>
              <a:cs typeface="B Lotus" pitchFamily="2" charset="-78"/>
            </a:endParaRPr>
          </a:p>
          <a:p>
            <a:pPr algn="just" eaLnBrk="1" hangingPunct="1">
              <a:lnSpc>
                <a:spcPts val="3000"/>
              </a:lnSpc>
            </a:pPr>
            <a:endParaRPr lang="fa-IR" sz="2000" dirty="0">
              <a:solidFill>
                <a:srgbClr val="000032"/>
              </a:solidFill>
              <a:cs typeface="B Lotus" pitchFamily="2" charset="-78"/>
            </a:endParaRPr>
          </a:p>
          <a:p>
            <a:pPr algn="just" eaLnBrk="1" hangingPunct="1">
              <a:lnSpc>
                <a:spcPts val="3000"/>
              </a:lnSpc>
            </a:pPr>
            <a:endParaRPr lang="en-US" sz="2000" dirty="0">
              <a:solidFill>
                <a:srgbClr val="000032"/>
              </a:solidFill>
              <a:cs typeface="B Lotus" pitchFamily="2" charset="-78"/>
            </a:endParaRPr>
          </a:p>
          <a:p>
            <a:pPr algn="just" eaLnBrk="1" hangingPunct="1">
              <a:lnSpc>
                <a:spcPts val="3000"/>
              </a:lnSpc>
            </a:pPr>
            <a:endParaRPr lang="fa-IR" sz="2000" dirty="0">
              <a:cs typeface="B Lotus" pitchFamily="2" charset="-78"/>
            </a:endParaRPr>
          </a:p>
          <a:p>
            <a:pPr algn="just" eaLnBrk="1" hangingPunct="1">
              <a:lnSpc>
                <a:spcPts val="3000"/>
              </a:lnSpc>
            </a:pPr>
            <a:endParaRPr lang="fa-IR" sz="2000" dirty="0">
              <a:cs typeface="B Lotus" pitchFamily="2" charset="-78"/>
            </a:endParaRPr>
          </a:p>
          <a:p>
            <a:pPr algn="just" eaLnBrk="1" hangingPunct="1">
              <a:lnSpc>
                <a:spcPts val="3000"/>
              </a:lnSpc>
            </a:pPr>
            <a:r>
              <a:rPr lang="fa-IR" sz="2000" dirty="0">
                <a:cs typeface="B Lotus" pitchFamily="2" charset="-78"/>
              </a:rPr>
              <a:t>برای این نوع زمان</a:t>
            </a:r>
            <a:r>
              <a:rPr lang="en-US" sz="2000" dirty="0">
                <a:cs typeface="B Lotus" pitchFamily="2" charset="-78"/>
              </a:rPr>
              <a:t> </a:t>
            </a:r>
            <a:r>
              <a:rPr lang="fa-IR" sz="2000" dirty="0">
                <a:cs typeface="B Lotus" pitchFamily="2" charset="-78"/>
              </a:rPr>
              <a:t>بندی راه</a:t>
            </a:r>
            <a:r>
              <a:rPr lang="en-US" sz="2000" dirty="0">
                <a:cs typeface="B Lotus" pitchFamily="2" charset="-78"/>
              </a:rPr>
              <a:t> </a:t>
            </a:r>
            <a:r>
              <a:rPr lang="fa-IR" sz="2000" dirty="0">
                <a:cs typeface="B Lotus" pitchFamily="2" charset="-78"/>
              </a:rPr>
              <a:t>حل مناسب آن است که ابتدا داده</a:t>
            </a:r>
            <a:r>
              <a:rPr lang="en-US" sz="2000" dirty="0">
                <a:cs typeface="B Lotus" pitchFamily="2" charset="-78"/>
              </a:rPr>
              <a:t> </a:t>
            </a:r>
            <a:r>
              <a:rPr lang="fa-IR" sz="2000" dirty="0">
                <a:cs typeface="B Lotus" pitchFamily="2" charset="-78"/>
              </a:rPr>
              <a:t>ها را به ترتیب صعودی بر حسب زمان مورد نیازشان مرتب کنیم، سپس از سرلیست به آنها سرویس بدهیم</a:t>
            </a:r>
            <a:r>
              <a:rPr lang="en-US" sz="2000" dirty="0">
                <a:cs typeface="B Lotus" pitchFamily="2" charset="-78"/>
              </a:rPr>
              <a:t> </a:t>
            </a:r>
            <a:r>
              <a:rPr lang="fa-IR" sz="2000" dirty="0">
                <a:cs typeface="B Lotus" pitchFamily="2" charset="-78"/>
              </a:rPr>
              <a:t>(مرتبه زمانی فقط زمان لازم برای مرتب سازی</a:t>
            </a:r>
            <a:r>
              <a:rPr lang="en-US" sz="2000" dirty="0">
                <a:cs typeface="B Lotus" pitchFamily="2" charset="-78"/>
              </a:rPr>
              <a:t>               </a:t>
            </a:r>
            <a:r>
              <a:rPr lang="fa-IR" sz="2000" dirty="0">
                <a:cs typeface="B Lotus" pitchFamily="2" charset="-78"/>
              </a:rPr>
              <a:t> می</a:t>
            </a:r>
            <a:r>
              <a:rPr lang="en-US" sz="2000" dirty="0">
                <a:cs typeface="B Lotus" pitchFamily="2" charset="-78"/>
              </a:rPr>
              <a:t> </a:t>
            </a:r>
            <a:r>
              <a:rPr lang="fa-IR" sz="2000" dirty="0">
                <a:cs typeface="B Lotus" pitchFamily="2" charset="-78"/>
              </a:rPr>
              <a:t>شود).</a:t>
            </a:r>
            <a:endParaRPr lang="en-US" sz="2000" dirty="0">
              <a:cs typeface="B Lotus" pitchFamily="2" charset="-78"/>
            </a:endParaRPr>
          </a:p>
          <a:p>
            <a:pPr algn="just" eaLnBrk="1" hangingPunct="1">
              <a:lnSpc>
                <a:spcPts val="3000"/>
              </a:lnSpc>
            </a:pPr>
            <a:endParaRPr lang="fa-IR" sz="2000" dirty="0">
              <a:cs typeface="B Lotus" pitchFamily="2" charset="-78"/>
            </a:endParaRPr>
          </a:p>
          <a:p>
            <a:pPr eaLnBrk="1" hangingPunct="1">
              <a:lnSpc>
                <a:spcPts val="3000"/>
              </a:lnSpc>
            </a:pPr>
            <a:endParaRPr lang="en-US" sz="2000" dirty="0">
              <a:solidFill>
                <a:srgbClr val="DC0000"/>
              </a:solidFill>
              <a:cs typeface="B Lotus" pitchFamily="2" charset="-78"/>
            </a:endParaRPr>
          </a:p>
        </p:txBody>
      </p:sp>
      <p:sp>
        <p:nvSpPr>
          <p:cNvPr id="31" name="Rectangle 30"/>
          <p:cNvSpPr/>
          <p:nvPr/>
        </p:nvSpPr>
        <p:spPr>
          <a:xfrm>
            <a:off x="538163" y="1571625"/>
            <a:ext cx="4786312" cy="1785938"/>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graphicFrame>
        <p:nvGraphicFramePr>
          <p:cNvPr id="56322" name="Object 9"/>
          <p:cNvGraphicFramePr>
            <a:graphicFrameLocks noChangeAspect="1"/>
          </p:cNvGraphicFramePr>
          <p:nvPr/>
        </p:nvGraphicFramePr>
        <p:xfrm>
          <a:off x="7366000" y="1041400"/>
          <a:ext cx="846138" cy="322263"/>
        </p:xfrm>
        <a:graphic>
          <a:graphicData uri="http://schemas.openxmlformats.org/presentationml/2006/ole">
            <mc:AlternateContent xmlns:mc="http://schemas.openxmlformats.org/markup-compatibility/2006">
              <mc:Choice xmlns:v="urn:schemas-microsoft-com:vml" Requires="v">
                <p:oleObj spid="_x0000_s56396" name="Equation" r:id="rId3" imgW="520474" imgH="203112" progId="Equation.3">
                  <p:embed/>
                </p:oleObj>
              </mc:Choice>
              <mc:Fallback>
                <p:oleObj name="Equation" r:id="rId3" imgW="520474" imgH="203112"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6000" y="1041400"/>
                        <a:ext cx="846138" cy="32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3" name="Object 8"/>
          <p:cNvGraphicFramePr>
            <a:graphicFrameLocks noChangeAspect="1"/>
          </p:cNvGraphicFramePr>
          <p:nvPr/>
        </p:nvGraphicFramePr>
        <p:xfrm>
          <a:off x="4294188" y="1014413"/>
          <a:ext cx="1844675" cy="369887"/>
        </p:xfrm>
        <a:graphic>
          <a:graphicData uri="http://schemas.openxmlformats.org/presentationml/2006/ole">
            <mc:AlternateContent xmlns:mc="http://schemas.openxmlformats.org/markup-compatibility/2006">
              <mc:Choice xmlns:v="urn:schemas-microsoft-com:vml" Requires="v">
                <p:oleObj spid="_x0000_s56397" name="Equation" r:id="rId5" imgW="1143000" imgH="228600" progId="Equation.3">
                  <p:embed/>
                </p:oleObj>
              </mc:Choice>
              <mc:Fallback>
                <p:oleObj name="Equation" r:id="rId5" imgW="1143000" imgH="2286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4188" y="1014413"/>
                        <a:ext cx="1844675"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Table 20"/>
          <p:cNvGraphicFramePr>
            <a:graphicFrameLocks noGrp="1"/>
          </p:cNvGraphicFramePr>
          <p:nvPr/>
        </p:nvGraphicFramePr>
        <p:xfrm>
          <a:off x="609600" y="1639888"/>
          <a:ext cx="3573463" cy="1646238"/>
        </p:xfrm>
        <a:graphic>
          <a:graphicData uri="http://schemas.openxmlformats.org/drawingml/2006/table">
            <a:tbl>
              <a:tblPr/>
              <a:tblGrid>
                <a:gridCol w="239713"/>
                <a:gridCol w="247650"/>
                <a:gridCol w="249237"/>
                <a:gridCol w="2836863"/>
              </a:tblGrid>
              <a:tr h="274373">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r>
              <a:tr h="274373">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r>
              <a:tr h="274373">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r>
              <a:tr h="274373">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r>
              <a:tr h="274373">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r>
              <a:tr h="274373">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a:noFill/>
                    </a:lnL>
                    <a:lnR>
                      <a:noFill/>
                    </a:lnR>
                    <a:lnT>
                      <a:noFill/>
                    </a:lnT>
                    <a:lnB>
                      <a:noFill/>
                    </a:lnB>
                    <a:lnTlToBr>
                      <a:noFill/>
                    </a:lnTlToBr>
                    <a:lnBlToTr>
                      <a:noFill/>
                    </a:lnBlToTr>
                    <a:noFill/>
                  </a:tcPr>
                </a:tc>
              </a:tr>
            </a:tbl>
          </a:graphicData>
        </a:graphic>
      </p:graphicFrame>
      <p:graphicFrame>
        <p:nvGraphicFramePr>
          <p:cNvPr id="56324" name="Object 18"/>
          <p:cNvGraphicFramePr>
            <a:graphicFrameLocks noChangeAspect="1"/>
          </p:cNvGraphicFramePr>
          <p:nvPr/>
        </p:nvGraphicFramePr>
        <p:xfrm>
          <a:off x="1466850" y="1665288"/>
          <a:ext cx="2743200" cy="307975"/>
        </p:xfrm>
        <a:graphic>
          <a:graphicData uri="http://schemas.openxmlformats.org/presentationml/2006/ole">
            <mc:AlternateContent xmlns:mc="http://schemas.openxmlformats.org/markup-compatibility/2006">
              <mc:Choice xmlns:v="urn:schemas-microsoft-com:vml" Requires="v">
                <p:oleObj spid="_x0000_s56398" name="Equation" r:id="rId7" imgW="1777229" imgH="203112" progId="Equation.3">
                  <p:embed/>
                </p:oleObj>
              </mc:Choice>
              <mc:Fallback>
                <p:oleObj name="Equation" r:id="rId7" imgW="1777229" imgH="203112"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66850" y="1665288"/>
                        <a:ext cx="2743200"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5" name="Object 17"/>
          <p:cNvGraphicFramePr>
            <a:graphicFrameLocks noChangeAspect="1"/>
          </p:cNvGraphicFramePr>
          <p:nvPr/>
        </p:nvGraphicFramePr>
        <p:xfrm>
          <a:off x="1463675" y="1928813"/>
          <a:ext cx="2743200" cy="307975"/>
        </p:xfrm>
        <a:graphic>
          <a:graphicData uri="http://schemas.openxmlformats.org/presentationml/2006/ole">
            <mc:AlternateContent xmlns:mc="http://schemas.openxmlformats.org/markup-compatibility/2006">
              <mc:Choice xmlns:v="urn:schemas-microsoft-com:vml" Requires="v">
                <p:oleObj spid="_x0000_s56399" name="Equation" r:id="rId9" imgW="1777229" imgH="203112" progId="Equation.3">
                  <p:embed/>
                </p:oleObj>
              </mc:Choice>
              <mc:Fallback>
                <p:oleObj name="Equation" r:id="rId9" imgW="1777229" imgH="203112"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63675" y="1928813"/>
                        <a:ext cx="2743200"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6" name="Object 16"/>
          <p:cNvGraphicFramePr>
            <a:graphicFrameLocks noChangeAspect="1"/>
          </p:cNvGraphicFramePr>
          <p:nvPr/>
        </p:nvGraphicFramePr>
        <p:xfrm>
          <a:off x="1466850" y="2192338"/>
          <a:ext cx="2743200" cy="307975"/>
        </p:xfrm>
        <a:graphic>
          <a:graphicData uri="http://schemas.openxmlformats.org/presentationml/2006/ole">
            <mc:AlternateContent xmlns:mc="http://schemas.openxmlformats.org/markup-compatibility/2006">
              <mc:Choice xmlns:v="urn:schemas-microsoft-com:vml" Requires="v">
                <p:oleObj spid="_x0000_s56400" name="Equation" r:id="rId11" imgW="1777229" imgH="203112" progId="Equation.3">
                  <p:embed/>
                </p:oleObj>
              </mc:Choice>
              <mc:Fallback>
                <p:oleObj name="Equation" r:id="rId11" imgW="1777229" imgH="203112"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66850" y="2192338"/>
                        <a:ext cx="2743200"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7" name="Object 15"/>
          <p:cNvGraphicFramePr>
            <a:graphicFrameLocks noChangeAspect="1"/>
          </p:cNvGraphicFramePr>
          <p:nvPr/>
        </p:nvGraphicFramePr>
        <p:xfrm>
          <a:off x="1466850" y="2466975"/>
          <a:ext cx="3813175" cy="307975"/>
        </p:xfrm>
        <a:graphic>
          <a:graphicData uri="http://schemas.openxmlformats.org/presentationml/2006/ole">
            <mc:AlternateContent xmlns:mc="http://schemas.openxmlformats.org/markup-compatibility/2006">
              <mc:Choice xmlns:v="urn:schemas-microsoft-com:vml" Requires="v">
                <p:oleObj spid="_x0000_s56401" name="Equation" r:id="rId13" imgW="2476500" imgH="203200" progId="Equation.3">
                  <p:embed/>
                </p:oleObj>
              </mc:Choice>
              <mc:Fallback>
                <p:oleObj name="Equation" r:id="rId13" imgW="2476500" imgH="2032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66850" y="2466975"/>
                        <a:ext cx="3813175"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8" name="Object 14"/>
          <p:cNvGraphicFramePr>
            <a:graphicFrameLocks noChangeAspect="1"/>
          </p:cNvGraphicFramePr>
          <p:nvPr/>
        </p:nvGraphicFramePr>
        <p:xfrm>
          <a:off x="1466850" y="2752725"/>
          <a:ext cx="2757488" cy="307975"/>
        </p:xfrm>
        <a:graphic>
          <a:graphicData uri="http://schemas.openxmlformats.org/presentationml/2006/ole">
            <mc:AlternateContent xmlns:mc="http://schemas.openxmlformats.org/markup-compatibility/2006">
              <mc:Choice xmlns:v="urn:schemas-microsoft-com:vml" Requires="v">
                <p:oleObj spid="_x0000_s56402" name="Equation" r:id="rId15" imgW="1790700" imgH="203200" progId="Equation.3">
                  <p:embed/>
                </p:oleObj>
              </mc:Choice>
              <mc:Fallback>
                <p:oleObj name="Equation" r:id="rId15" imgW="1790700" imgH="2032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66850" y="2752725"/>
                        <a:ext cx="2757488"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9" name="Object 13"/>
          <p:cNvGraphicFramePr>
            <a:graphicFrameLocks noChangeAspect="1"/>
          </p:cNvGraphicFramePr>
          <p:nvPr/>
        </p:nvGraphicFramePr>
        <p:xfrm>
          <a:off x="1466850" y="3022600"/>
          <a:ext cx="2757488" cy="307975"/>
        </p:xfrm>
        <a:graphic>
          <a:graphicData uri="http://schemas.openxmlformats.org/presentationml/2006/ole">
            <mc:AlternateContent xmlns:mc="http://schemas.openxmlformats.org/markup-compatibility/2006">
              <mc:Choice xmlns:v="urn:schemas-microsoft-com:vml" Requires="v">
                <p:oleObj spid="_x0000_s56403" name="Equation" r:id="rId17" imgW="1790700" imgH="203200" progId="Equation.3">
                  <p:embed/>
                </p:oleObj>
              </mc:Choice>
              <mc:Fallback>
                <p:oleObj name="Equation" r:id="rId17" imgW="1790700" imgH="203200" progId="Equation.3">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66850" y="3022600"/>
                        <a:ext cx="2757488"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30" name="Object 19"/>
          <p:cNvGraphicFramePr>
            <a:graphicFrameLocks noChangeAspect="1"/>
          </p:cNvGraphicFramePr>
          <p:nvPr>
            <p:extLst>
              <p:ext uri="{D42A27DB-BD31-4B8C-83A1-F6EECF244321}">
                <p14:modId xmlns:p14="http://schemas.microsoft.com/office/powerpoint/2010/main" val="3126837278"/>
              </p:ext>
            </p:extLst>
          </p:nvPr>
        </p:nvGraphicFramePr>
        <p:xfrm>
          <a:off x="6588224" y="4509120"/>
          <a:ext cx="973138" cy="300037"/>
        </p:xfrm>
        <a:graphic>
          <a:graphicData uri="http://schemas.openxmlformats.org/presentationml/2006/ole">
            <mc:AlternateContent xmlns:mc="http://schemas.openxmlformats.org/markup-compatibility/2006">
              <mc:Choice xmlns:v="urn:schemas-microsoft-com:vml" Requires="v">
                <p:oleObj spid="_x0000_s56404" name="Equation" r:id="rId19" imgW="647419" imgH="203112" progId="Equation.3">
                  <p:embed/>
                </p:oleObj>
              </mc:Choice>
              <mc:Fallback>
                <p:oleObj name="Equation" r:id="rId19" imgW="647419" imgH="203112" progId="Equation.3">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88224" y="4509120"/>
                        <a:ext cx="973138" cy="300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60" name="Rectangle 5"/>
          <p:cNvSpPr txBox="1">
            <a:spLocks/>
          </p:cNvSpPr>
          <p:nvPr/>
        </p:nvSpPr>
        <p:spPr bwMode="auto">
          <a:xfrm>
            <a:off x="457200" y="928688"/>
            <a:ext cx="8229600"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just" eaLnBrk="1" hangingPunct="1">
              <a:lnSpc>
                <a:spcPts val="3000"/>
              </a:lnSpc>
            </a:pPr>
            <a:r>
              <a:rPr lang="fa-IR" sz="2000" dirty="0">
                <a:solidFill>
                  <a:srgbClr val="DC0000"/>
                </a:solidFill>
                <a:cs typeface="B Titr" pitchFamily="2" charset="-78"/>
              </a:rPr>
              <a:t>زمان بندی مهلت دار </a:t>
            </a:r>
            <a:r>
              <a:rPr lang="en-US" sz="2000" dirty="0">
                <a:solidFill>
                  <a:srgbClr val="DC0000"/>
                </a:solidFill>
                <a:latin typeface="Arial Black" pitchFamily="34" charset="0"/>
                <a:cs typeface="B Titr" pitchFamily="2" charset="-78"/>
              </a:rPr>
              <a:t>(Scheduling </a:t>
            </a:r>
            <a:r>
              <a:rPr lang="en-US" sz="2000" dirty="0" smtClean="0">
                <a:solidFill>
                  <a:srgbClr val="DC0000"/>
                </a:solidFill>
                <a:latin typeface="Arial Black" pitchFamily="34" charset="0"/>
                <a:cs typeface="B Titr" pitchFamily="2" charset="-78"/>
              </a:rPr>
              <a:t>With Deadlines</a:t>
            </a:r>
            <a:r>
              <a:rPr lang="en-US" sz="2000" dirty="0">
                <a:solidFill>
                  <a:srgbClr val="DC0000"/>
                </a:solidFill>
                <a:latin typeface="Arial Black" pitchFamily="34" charset="0"/>
                <a:cs typeface="B Titr" pitchFamily="2" charset="-78"/>
              </a:rPr>
              <a:t>)</a:t>
            </a:r>
            <a:r>
              <a:rPr lang="fa-IR" sz="2000" dirty="0">
                <a:solidFill>
                  <a:srgbClr val="DC0000"/>
                </a:solidFill>
                <a:latin typeface="Arial Black" pitchFamily="34" charset="0"/>
                <a:cs typeface="B Titr" pitchFamily="2" charset="-78"/>
              </a:rPr>
              <a:t> </a:t>
            </a:r>
            <a:r>
              <a:rPr lang="fa-IR" sz="2000" dirty="0">
                <a:solidFill>
                  <a:srgbClr val="DC0000"/>
                </a:solidFill>
                <a:cs typeface="B Titr" pitchFamily="2" charset="-78"/>
              </a:rPr>
              <a:t>:</a:t>
            </a:r>
            <a:endParaRPr lang="en-US" sz="2000" dirty="0">
              <a:solidFill>
                <a:srgbClr val="DC0000"/>
              </a:solidFill>
              <a:cs typeface="B Titr" pitchFamily="2" charset="-78"/>
            </a:endParaRPr>
          </a:p>
          <a:p>
            <a:pPr algn="just" eaLnBrk="1" hangingPunct="1">
              <a:lnSpc>
                <a:spcPts val="3000"/>
              </a:lnSpc>
            </a:pPr>
            <a:r>
              <a:rPr lang="fa-IR" sz="2000" dirty="0">
                <a:cs typeface="B Lotus" pitchFamily="2" charset="-78"/>
              </a:rPr>
              <a:t>فرض کنید    </a:t>
            </a:r>
            <a:r>
              <a:rPr lang="en-US" sz="2000" dirty="0">
                <a:cs typeface="B Lotus" pitchFamily="2" charset="-78"/>
              </a:rPr>
              <a:t> </a:t>
            </a:r>
            <a:r>
              <a:rPr lang="fa-IR" sz="2000" dirty="0">
                <a:cs typeface="B Lotus" pitchFamily="2" charset="-78"/>
              </a:rPr>
              <a:t>کار</a:t>
            </a:r>
            <a:r>
              <a:rPr lang="en-US" sz="2000" dirty="0">
                <a:cs typeface="B Lotus" pitchFamily="2" charset="-78"/>
              </a:rPr>
              <a:t> </a:t>
            </a:r>
            <a:r>
              <a:rPr lang="fa-IR" sz="2000" dirty="0">
                <a:cs typeface="B Lotus" pitchFamily="2" charset="-78"/>
              </a:rPr>
              <a:t>        داریم که هر یک برای انجامشان به یک واحد زمانی نیاز دارند. هر یک از این کار ها دارای یک مهلت زمانی مانند  </a:t>
            </a:r>
            <a:r>
              <a:rPr lang="en-US" sz="2000" dirty="0">
                <a:cs typeface="B Lotus" pitchFamily="2" charset="-78"/>
              </a:rPr>
              <a:t> </a:t>
            </a:r>
            <a:r>
              <a:rPr lang="fa-IR" sz="2000" dirty="0">
                <a:cs typeface="B Lotus" pitchFamily="2" charset="-78"/>
              </a:rPr>
              <a:t> می باشند، یعنی کار    ام اگر قبل از زمان    </a:t>
            </a:r>
            <a:r>
              <a:rPr lang="en-US" sz="2000" dirty="0">
                <a:cs typeface="B Lotus" pitchFamily="2" charset="-78"/>
              </a:rPr>
              <a:t> </a:t>
            </a:r>
            <a:r>
              <a:rPr lang="fa-IR" sz="2000" dirty="0">
                <a:cs typeface="B Lotus" pitchFamily="2" charset="-78"/>
              </a:rPr>
              <a:t>انجام شود، سودی به اندازه            به ما می رساند. در غیر این صورت انجام این کار هیچ سودی نخواهد داشت. می خواهیم بدانیم حداکثر سودی که می توان از اجرای چند</a:t>
            </a:r>
            <a:r>
              <a:rPr lang="en-US" sz="2000" dirty="0">
                <a:cs typeface="B Lotus" pitchFamily="2" charset="-78"/>
              </a:rPr>
              <a:t> </a:t>
            </a:r>
            <a:r>
              <a:rPr lang="fa-IR" sz="2000" dirty="0">
                <a:cs typeface="B Lotus" pitchFamily="2" charset="-78"/>
              </a:rPr>
              <a:t>       از این     ،</a:t>
            </a:r>
            <a:r>
              <a:rPr lang="en-US" sz="2000" dirty="0">
                <a:cs typeface="B Lotus" pitchFamily="2" charset="-78"/>
              </a:rPr>
              <a:t> </a:t>
            </a:r>
            <a:r>
              <a:rPr lang="fa-IR" sz="2000" dirty="0">
                <a:cs typeface="B Lotus" pitchFamily="2" charset="-78"/>
              </a:rPr>
              <a:t>       داشت، چه مقدار است؟</a:t>
            </a:r>
          </a:p>
          <a:p>
            <a:pPr algn="just" eaLnBrk="1" hangingPunct="1">
              <a:lnSpc>
                <a:spcPts val="3000"/>
              </a:lnSpc>
            </a:pPr>
            <a:endParaRPr lang="fa-IR" sz="2000" dirty="0">
              <a:cs typeface="B Lotus" pitchFamily="2" charset="-78"/>
            </a:endParaRPr>
          </a:p>
          <a:p>
            <a:pPr algn="just" eaLnBrk="1" hangingPunct="1">
              <a:lnSpc>
                <a:spcPts val="3000"/>
              </a:lnSpc>
            </a:pPr>
            <a:endParaRPr lang="fa-IR" sz="2000" dirty="0">
              <a:cs typeface="B Lotus" pitchFamily="2" charset="-78"/>
            </a:endParaRPr>
          </a:p>
          <a:p>
            <a:pPr algn="just" eaLnBrk="1" hangingPunct="1">
              <a:lnSpc>
                <a:spcPts val="3000"/>
              </a:lnSpc>
            </a:pPr>
            <a:endParaRPr lang="fa-IR" sz="2000" dirty="0">
              <a:cs typeface="B Lotus" pitchFamily="2" charset="-78"/>
            </a:endParaRPr>
          </a:p>
          <a:p>
            <a:pPr algn="just" eaLnBrk="1" hangingPunct="1">
              <a:lnSpc>
                <a:spcPts val="3000"/>
              </a:lnSpc>
            </a:pPr>
            <a:r>
              <a:rPr lang="fa-IR" sz="2000" dirty="0">
                <a:solidFill>
                  <a:srgbClr val="DC0000"/>
                </a:solidFill>
                <a:cs typeface="B Lotus" pitchFamily="2" charset="-78"/>
              </a:rPr>
              <a:t>حالت های ممکن :</a:t>
            </a:r>
            <a:endParaRPr lang="en-US" sz="2000" dirty="0">
              <a:solidFill>
                <a:srgbClr val="DC0000"/>
              </a:solidFill>
              <a:cs typeface="B Lotus" pitchFamily="2" charset="-78"/>
            </a:endParaRPr>
          </a:p>
          <a:p>
            <a:pPr algn="just" eaLnBrk="1" hangingPunct="1">
              <a:lnSpc>
                <a:spcPts val="3000"/>
              </a:lnSpc>
            </a:pPr>
            <a:endParaRPr lang="en-US" sz="2000" dirty="0">
              <a:cs typeface="B Lotus" pitchFamily="2" charset="-78"/>
            </a:endParaRPr>
          </a:p>
          <a:p>
            <a:pPr algn="just" eaLnBrk="1" hangingPunct="1">
              <a:lnSpc>
                <a:spcPts val="3000"/>
              </a:lnSpc>
            </a:pPr>
            <a:endParaRPr lang="fa-IR" sz="2000" dirty="0">
              <a:cs typeface="B Lotus" pitchFamily="2" charset="-78"/>
            </a:endParaRPr>
          </a:p>
          <a:p>
            <a:pPr eaLnBrk="1" hangingPunct="1">
              <a:lnSpc>
                <a:spcPts val="3000"/>
              </a:lnSpc>
            </a:pPr>
            <a:endParaRPr lang="en-US" sz="2000" dirty="0">
              <a:solidFill>
                <a:srgbClr val="DC0000"/>
              </a:solidFill>
              <a:cs typeface="B Lotus" pitchFamily="2" charset="-78"/>
            </a:endParaRPr>
          </a:p>
        </p:txBody>
      </p:sp>
      <p:graphicFrame>
        <p:nvGraphicFramePr>
          <p:cNvPr id="57346" name="Object 19"/>
          <p:cNvGraphicFramePr>
            <a:graphicFrameLocks noChangeAspect="1"/>
          </p:cNvGraphicFramePr>
          <p:nvPr/>
        </p:nvGraphicFramePr>
        <p:xfrm>
          <a:off x="7500938" y="1470025"/>
          <a:ext cx="201612" cy="233363"/>
        </p:xfrm>
        <a:graphic>
          <a:graphicData uri="http://schemas.openxmlformats.org/presentationml/2006/ole">
            <mc:AlternateContent xmlns:mc="http://schemas.openxmlformats.org/markup-compatibility/2006">
              <mc:Choice xmlns:v="urn:schemas-microsoft-com:vml" Requires="v">
                <p:oleObj spid="_x0000_s57466" name="Equation" r:id="rId3" imgW="126835" imgH="139518" progId="Equation.3">
                  <p:embed/>
                </p:oleObj>
              </mc:Choice>
              <mc:Fallback>
                <p:oleObj name="Equation" r:id="rId3" imgW="126835" imgH="139518"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0938" y="1470025"/>
                        <a:ext cx="201612" cy="233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47" name="Object 18"/>
          <p:cNvGraphicFramePr>
            <a:graphicFrameLocks noChangeAspect="1"/>
          </p:cNvGraphicFramePr>
          <p:nvPr/>
        </p:nvGraphicFramePr>
        <p:xfrm>
          <a:off x="6572250" y="1411288"/>
          <a:ext cx="620713" cy="325437"/>
        </p:xfrm>
        <a:graphic>
          <a:graphicData uri="http://schemas.openxmlformats.org/presentationml/2006/ole">
            <mc:AlternateContent xmlns:mc="http://schemas.openxmlformats.org/markup-compatibility/2006">
              <mc:Choice xmlns:v="urn:schemas-microsoft-com:vml" Requires="v">
                <p:oleObj spid="_x0000_s57467" name="Equation" r:id="rId5" imgW="380835" imgH="203112" progId="Equation.3">
                  <p:embed/>
                </p:oleObj>
              </mc:Choice>
              <mc:Fallback>
                <p:oleObj name="Equation" r:id="rId5" imgW="380835" imgH="203112"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2250" y="1411288"/>
                        <a:ext cx="620713" cy="325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48" name="Object 17"/>
          <p:cNvGraphicFramePr>
            <a:graphicFrameLocks noChangeAspect="1"/>
          </p:cNvGraphicFramePr>
          <p:nvPr/>
        </p:nvGraphicFramePr>
        <p:xfrm>
          <a:off x="5641975" y="1770063"/>
          <a:ext cx="265113" cy="373062"/>
        </p:xfrm>
        <a:graphic>
          <a:graphicData uri="http://schemas.openxmlformats.org/presentationml/2006/ole">
            <mc:AlternateContent xmlns:mc="http://schemas.openxmlformats.org/markup-compatibility/2006">
              <mc:Choice xmlns:v="urn:schemas-microsoft-com:vml" Requires="v">
                <p:oleObj spid="_x0000_s57468" name="Equation" r:id="rId7" imgW="165028" imgH="228501" progId="Equation.3">
                  <p:embed/>
                </p:oleObj>
              </mc:Choice>
              <mc:Fallback>
                <p:oleObj name="Equation" r:id="rId7" imgW="165028" imgH="228501"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41975" y="1770063"/>
                        <a:ext cx="265113" cy="373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49" name="Object 16"/>
          <p:cNvGraphicFramePr>
            <a:graphicFrameLocks noChangeAspect="1"/>
          </p:cNvGraphicFramePr>
          <p:nvPr/>
        </p:nvGraphicFramePr>
        <p:xfrm>
          <a:off x="3940175" y="1808163"/>
          <a:ext cx="139700" cy="263525"/>
        </p:xfrm>
        <a:graphic>
          <a:graphicData uri="http://schemas.openxmlformats.org/presentationml/2006/ole">
            <mc:AlternateContent xmlns:mc="http://schemas.openxmlformats.org/markup-compatibility/2006">
              <mc:Choice xmlns:v="urn:schemas-microsoft-com:vml" Requires="v">
                <p:oleObj spid="_x0000_s57469" name="Equation" r:id="rId9" imgW="88707" imgH="164742" progId="Equation.3">
                  <p:embed/>
                </p:oleObj>
              </mc:Choice>
              <mc:Fallback>
                <p:oleObj name="Equation" r:id="rId9" imgW="88707" imgH="164742"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0175" y="1808163"/>
                        <a:ext cx="139700"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0" name="Object 15"/>
          <p:cNvGraphicFramePr>
            <a:graphicFrameLocks noChangeAspect="1"/>
          </p:cNvGraphicFramePr>
          <p:nvPr/>
        </p:nvGraphicFramePr>
        <p:xfrm>
          <a:off x="2200275" y="1774825"/>
          <a:ext cx="263525" cy="373063"/>
        </p:xfrm>
        <a:graphic>
          <a:graphicData uri="http://schemas.openxmlformats.org/presentationml/2006/ole">
            <mc:AlternateContent xmlns:mc="http://schemas.openxmlformats.org/markup-compatibility/2006">
              <mc:Choice xmlns:v="urn:schemas-microsoft-com:vml" Requires="v">
                <p:oleObj spid="_x0000_s57470" name="Equation" r:id="rId11" imgW="165028" imgH="228501" progId="Equation.3">
                  <p:embed/>
                </p:oleObj>
              </mc:Choice>
              <mc:Fallback>
                <p:oleObj name="Equation" r:id="rId11" imgW="165028" imgH="228501"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00275" y="1774825"/>
                        <a:ext cx="263525" cy="373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1" name="Object 14"/>
          <p:cNvGraphicFramePr>
            <a:graphicFrameLocks noChangeAspect="1"/>
          </p:cNvGraphicFramePr>
          <p:nvPr/>
        </p:nvGraphicFramePr>
        <p:xfrm>
          <a:off x="7500938" y="2132013"/>
          <a:ext cx="668337" cy="373062"/>
        </p:xfrm>
        <a:graphic>
          <a:graphicData uri="http://schemas.openxmlformats.org/presentationml/2006/ole">
            <mc:AlternateContent xmlns:mc="http://schemas.openxmlformats.org/markup-compatibility/2006">
              <mc:Choice xmlns:v="urn:schemas-microsoft-com:vml" Requires="v">
                <p:oleObj spid="_x0000_s57471" name="Equation" r:id="rId13" imgW="406224" imgH="228501" progId="Equation.3">
                  <p:embed/>
                </p:oleObj>
              </mc:Choice>
              <mc:Fallback>
                <p:oleObj name="Equation" r:id="rId13" imgW="406224" imgH="228501"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00938" y="2132013"/>
                        <a:ext cx="668337" cy="373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2" name="Object 13"/>
          <p:cNvGraphicFramePr>
            <a:graphicFrameLocks noChangeAspect="1"/>
          </p:cNvGraphicFramePr>
          <p:nvPr/>
        </p:nvGraphicFramePr>
        <p:xfrm>
          <a:off x="4489450" y="2560638"/>
          <a:ext cx="450850" cy="325437"/>
        </p:xfrm>
        <a:graphic>
          <a:graphicData uri="http://schemas.openxmlformats.org/presentationml/2006/ole">
            <mc:AlternateContent xmlns:mc="http://schemas.openxmlformats.org/markup-compatibility/2006">
              <mc:Choice xmlns:v="urn:schemas-microsoft-com:vml" Requires="v">
                <p:oleObj spid="_x0000_s57472" name="Equation" r:id="rId15" imgW="279279" imgH="203112" progId="Equation.3">
                  <p:embed/>
                </p:oleObj>
              </mc:Choice>
              <mc:Fallback>
                <p:oleObj name="Equation" r:id="rId15" imgW="279279" imgH="203112"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89450" y="2560638"/>
                        <a:ext cx="450850" cy="325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3" name="Object 12"/>
          <p:cNvGraphicFramePr>
            <a:graphicFrameLocks noChangeAspect="1"/>
          </p:cNvGraphicFramePr>
          <p:nvPr/>
        </p:nvGraphicFramePr>
        <p:xfrm>
          <a:off x="3738563" y="2605088"/>
          <a:ext cx="201612" cy="233362"/>
        </p:xfrm>
        <a:graphic>
          <a:graphicData uri="http://schemas.openxmlformats.org/presentationml/2006/ole">
            <mc:AlternateContent xmlns:mc="http://schemas.openxmlformats.org/markup-compatibility/2006">
              <mc:Choice xmlns:v="urn:schemas-microsoft-com:vml" Requires="v">
                <p:oleObj spid="_x0000_s57473" name="Equation" r:id="rId17" imgW="126835" imgH="139518" progId="Equation.3">
                  <p:embed/>
                </p:oleObj>
              </mc:Choice>
              <mc:Fallback>
                <p:oleObj name="Equation" r:id="rId17" imgW="126835" imgH="139518"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38563" y="2605088"/>
                        <a:ext cx="201612" cy="233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4" name="Object 11"/>
          <p:cNvGraphicFramePr>
            <a:graphicFrameLocks noChangeAspect="1"/>
          </p:cNvGraphicFramePr>
          <p:nvPr/>
        </p:nvGraphicFramePr>
        <p:xfrm>
          <a:off x="3154363" y="2549525"/>
          <a:ext cx="450850" cy="325438"/>
        </p:xfrm>
        <a:graphic>
          <a:graphicData uri="http://schemas.openxmlformats.org/presentationml/2006/ole">
            <mc:AlternateContent xmlns:mc="http://schemas.openxmlformats.org/markup-compatibility/2006">
              <mc:Choice xmlns:v="urn:schemas-microsoft-com:vml" Requires="v">
                <p:oleObj spid="_x0000_s57474" name="Equation" r:id="rId19" imgW="279279" imgH="203112" progId="Equation.3">
                  <p:embed/>
                </p:oleObj>
              </mc:Choice>
              <mc:Fallback>
                <p:oleObj name="Equation" r:id="rId19" imgW="279279" imgH="203112"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54363" y="2549525"/>
                        <a:ext cx="450850" cy="32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Table 32"/>
          <p:cNvGraphicFramePr>
            <a:graphicFrameLocks noGrp="1"/>
          </p:cNvGraphicFramePr>
          <p:nvPr/>
        </p:nvGraphicFramePr>
        <p:xfrm>
          <a:off x="500063" y="3000375"/>
          <a:ext cx="2063750" cy="990600"/>
        </p:xfrm>
        <a:graphic>
          <a:graphicData uri="http://schemas.openxmlformats.org/drawingml/2006/table">
            <a:tbl>
              <a:tblPr/>
              <a:tblGrid>
                <a:gridCol w="412750"/>
                <a:gridCol w="412750"/>
                <a:gridCol w="409575"/>
                <a:gridCol w="415925"/>
                <a:gridCol w="412750"/>
              </a:tblGrid>
              <a:tr h="3302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4</a:t>
                      </a:r>
                    </a:p>
                  </a:txBody>
                  <a:tcPr marL="68580" marR="68580" marT="0" marB="0" anchor="ctr" horzOverflow="overflow">
                    <a:lnL>
                      <a:noFill/>
                    </a:lnL>
                    <a:lnR>
                      <a:noFill/>
                    </a:lnR>
                    <a:lnT>
                      <a:noFill/>
                    </a:lnT>
                    <a:lnB>
                      <a:noFill/>
                    </a:lnB>
                    <a:lnTlToBr>
                      <a:noFill/>
                    </a:lnTlToBr>
                    <a:lnBlToTr>
                      <a:noFill/>
                    </a:lnBlToTr>
                    <a:noFill/>
                  </a:tcPr>
                </a:tc>
              </a:tr>
              <a:tr h="3302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50</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10</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15</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30</a:t>
                      </a:r>
                    </a:p>
                  </a:txBody>
                  <a:tcPr marL="68580" marR="68580" marT="0" marB="0" anchor="ctr" horzOverflow="overflow">
                    <a:lnL>
                      <a:noFill/>
                    </a:lnL>
                    <a:lnR>
                      <a:noFill/>
                    </a:lnR>
                    <a:lnT>
                      <a:noFill/>
                    </a:lnT>
                    <a:lnB>
                      <a:noFill/>
                    </a:lnB>
                    <a:lnTlToBr>
                      <a:noFill/>
                    </a:lnTlToBr>
                    <a:lnBlToTr>
                      <a:noFill/>
                    </a:lnBlToTr>
                    <a:noFill/>
                  </a:tcPr>
                </a:tc>
              </a:tr>
              <a:tr h="3302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anchor="ctr" horzOverflow="overflow">
                    <a:lnL>
                      <a:noFill/>
                    </a:lnL>
                    <a:lnR>
                      <a:noFill/>
                    </a:lnR>
                    <a:lnT>
                      <a:noFill/>
                    </a:lnT>
                    <a:lnB>
                      <a:noFill/>
                    </a:lnB>
                    <a:lnTlToBr>
                      <a:noFill/>
                    </a:lnTlToBr>
                    <a:lnBlToTr>
                      <a:noFill/>
                    </a:lnBlToTr>
                    <a:noFill/>
                  </a:tcPr>
                </a:tc>
              </a:tr>
            </a:tbl>
          </a:graphicData>
        </a:graphic>
      </p:graphicFrame>
      <p:graphicFrame>
        <p:nvGraphicFramePr>
          <p:cNvPr id="57355" name="Object 32"/>
          <p:cNvGraphicFramePr>
            <a:graphicFrameLocks noChangeAspect="1"/>
          </p:cNvGraphicFramePr>
          <p:nvPr/>
        </p:nvGraphicFramePr>
        <p:xfrm>
          <a:off x="574675" y="3011488"/>
          <a:ext cx="152400" cy="288925"/>
        </p:xfrm>
        <a:graphic>
          <a:graphicData uri="http://schemas.openxmlformats.org/presentationml/2006/ole">
            <mc:AlternateContent xmlns:mc="http://schemas.openxmlformats.org/markup-compatibility/2006">
              <mc:Choice xmlns:v="urn:schemas-microsoft-com:vml" Requires="v">
                <p:oleObj spid="_x0000_s57475" name="Equation" r:id="rId21" imgW="88707" imgH="164742" progId="Equation.3">
                  <p:embed/>
                </p:oleObj>
              </mc:Choice>
              <mc:Fallback>
                <p:oleObj name="Equation" r:id="rId21" imgW="88707" imgH="164742" progId="Equation.3">
                  <p:embed/>
                  <p:pic>
                    <p:nvPicPr>
                      <p:cNvPr id="0" name="Object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4675" y="3011488"/>
                        <a:ext cx="152400"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6" name="Object 31"/>
          <p:cNvGraphicFramePr>
            <a:graphicFrameLocks noChangeAspect="1"/>
          </p:cNvGraphicFramePr>
          <p:nvPr/>
        </p:nvGraphicFramePr>
        <p:xfrm>
          <a:off x="515938" y="3275013"/>
          <a:ext cx="287337" cy="406400"/>
        </p:xfrm>
        <a:graphic>
          <a:graphicData uri="http://schemas.openxmlformats.org/presentationml/2006/ole">
            <mc:AlternateContent xmlns:mc="http://schemas.openxmlformats.org/markup-compatibility/2006">
              <mc:Choice xmlns:v="urn:schemas-microsoft-com:vml" Requires="v">
                <p:oleObj spid="_x0000_s57476" name="Equation" r:id="rId23" imgW="165028" imgH="228501" progId="Equation.3">
                  <p:embed/>
                </p:oleObj>
              </mc:Choice>
              <mc:Fallback>
                <p:oleObj name="Equation" r:id="rId23" imgW="165028" imgH="228501" progId="Equation.3">
                  <p:embed/>
                  <p:pic>
                    <p:nvPicPr>
                      <p:cNvPr id="0" name="Object 3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15938" y="3275013"/>
                        <a:ext cx="287337"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7" name="Object 30"/>
          <p:cNvGraphicFramePr>
            <a:graphicFrameLocks noChangeAspect="1"/>
          </p:cNvGraphicFramePr>
          <p:nvPr/>
        </p:nvGraphicFramePr>
        <p:xfrm>
          <a:off x="527050" y="3654425"/>
          <a:ext cx="287338" cy="406400"/>
        </p:xfrm>
        <a:graphic>
          <a:graphicData uri="http://schemas.openxmlformats.org/presentationml/2006/ole">
            <mc:AlternateContent xmlns:mc="http://schemas.openxmlformats.org/markup-compatibility/2006">
              <mc:Choice xmlns:v="urn:schemas-microsoft-com:vml" Requires="v">
                <p:oleObj spid="_x0000_s57477" name="Equation" r:id="rId25" imgW="165028" imgH="228501" progId="Equation.3">
                  <p:embed/>
                </p:oleObj>
              </mc:Choice>
              <mc:Fallback>
                <p:oleObj name="Equation" r:id="rId25" imgW="165028" imgH="228501" progId="Equation.3">
                  <p:embed/>
                  <p:pic>
                    <p:nvPicPr>
                      <p:cNvPr id="0" name="Object 3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27050" y="3654425"/>
                        <a:ext cx="287338"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Table 36"/>
          <p:cNvGraphicFramePr>
            <a:graphicFrameLocks noGrp="1"/>
          </p:cNvGraphicFramePr>
          <p:nvPr/>
        </p:nvGraphicFramePr>
        <p:xfrm>
          <a:off x="1296988" y="4586288"/>
          <a:ext cx="2928937" cy="1341438"/>
        </p:xfrm>
        <a:graphic>
          <a:graphicData uri="http://schemas.openxmlformats.org/drawingml/2006/table">
            <a:tbl>
              <a:tblPr/>
              <a:tblGrid>
                <a:gridCol w="1152525"/>
                <a:gridCol w="525462"/>
                <a:gridCol w="1250950"/>
              </a:tblGrid>
              <a:tr h="2438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Elephant" pitchFamily="18" charset="0"/>
                          <a:ea typeface="Times New Roman" pitchFamily="18" charset="0"/>
                          <a:cs typeface="B Lotus" pitchFamily="2" charset="-78"/>
                        </a:rPr>
                        <a:t>Sequence</a:t>
                      </a: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Elephant" pitchFamily="18" charset="0"/>
                          <a:ea typeface="Times New Roman" pitchFamily="18" charset="0"/>
                          <a:cs typeface="B Lotus" pitchFamily="2" charset="-78"/>
                        </a:rPr>
                        <a:t>Profit</a:t>
                      </a: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hMerge="1">
                  <a:txBody>
                    <a:bodyPr/>
                    <a:lstStyle/>
                    <a:p>
                      <a:endParaRPr lang="en-US"/>
                    </a:p>
                  </a:txBody>
                  <a:tcPr/>
                </a:tc>
              </a:tr>
              <a:tr h="27438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50</a:t>
                      </a:r>
                    </a:p>
                  </a:txBody>
                  <a:tcPr marL="68580" marR="68580" marT="0" marB="0" anchor="ctr" horzOverflow="overflow">
                    <a:lnL>
                      <a:noFill/>
                    </a:lnL>
                    <a:lnR>
                      <a:noFill/>
                    </a:lnR>
                    <a:lnT>
                      <a:noFill/>
                    </a:lnT>
                    <a:lnB>
                      <a:noFill/>
                    </a:lnB>
                    <a:lnTlToBr>
                      <a:noFill/>
                    </a:lnTlToBr>
                    <a:lnBlToTr>
                      <a:noFill/>
                    </a:lnBlToTr>
                    <a:noFill/>
                  </a:tcPr>
                </a:tc>
              </a:tr>
              <a:tr h="27438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10</a:t>
                      </a:r>
                    </a:p>
                  </a:txBody>
                  <a:tcPr marL="68580" marR="68580" marT="0" marB="0" anchor="ctr" horzOverflow="overflow">
                    <a:lnL>
                      <a:noFill/>
                    </a:lnL>
                    <a:lnR>
                      <a:noFill/>
                    </a:lnR>
                    <a:lnT>
                      <a:noFill/>
                    </a:lnT>
                    <a:lnB>
                      <a:noFill/>
                    </a:lnB>
                    <a:lnTlToBr>
                      <a:noFill/>
                    </a:lnTlToBr>
                    <a:lnBlToTr>
                      <a:noFill/>
                    </a:lnBlToTr>
                    <a:noFill/>
                  </a:tcPr>
                </a:tc>
              </a:tr>
              <a:tr h="27438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15</a:t>
                      </a:r>
                    </a:p>
                  </a:txBody>
                  <a:tcPr marL="68580" marR="68580" marT="0" marB="0" anchor="ctr" horzOverflow="overflow">
                    <a:lnL>
                      <a:noFill/>
                    </a:lnL>
                    <a:lnR>
                      <a:noFill/>
                    </a:lnR>
                    <a:lnT>
                      <a:noFill/>
                    </a:lnT>
                    <a:lnB>
                      <a:noFill/>
                    </a:lnB>
                    <a:lnTlToBr>
                      <a:noFill/>
                    </a:lnTlToBr>
                    <a:lnBlToTr>
                      <a:noFill/>
                    </a:lnBlToTr>
                    <a:noFill/>
                  </a:tcPr>
                </a:tc>
              </a:tr>
              <a:tr h="27438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4</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30</a:t>
                      </a:r>
                    </a:p>
                  </a:txBody>
                  <a:tcPr marL="68580" marR="68580" marT="0" marB="0" anchor="ctr" horzOverflow="overflow">
                    <a:lnL>
                      <a:noFill/>
                    </a:lnL>
                    <a:lnR>
                      <a:noFill/>
                    </a:lnR>
                    <a:lnT>
                      <a:noFill/>
                    </a:lnT>
                    <a:lnB>
                      <a:noFill/>
                    </a:lnB>
                    <a:lnTlToBr>
                      <a:noFill/>
                    </a:lnTlToBr>
                    <a:lnBlToTr>
                      <a:noFill/>
                    </a:lnBlToTr>
                    <a:noFill/>
                  </a:tcPr>
                </a:tc>
              </a:tr>
            </a:tbl>
          </a:graphicData>
        </a:graphic>
      </p:graphicFrame>
      <p:graphicFrame>
        <p:nvGraphicFramePr>
          <p:cNvPr id="39" name="Table 38"/>
          <p:cNvGraphicFramePr>
            <a:graphicFrameLocks noGrp="1"/>
          </p:cNvGraphicFramePr>
          <p:nvPr/>
        </p:nvGraphicFramePr>
        <p:xfrm>
          <a:off x="4714875" y="4572000"/>
          <a:ext cx="3000375" cy="1889760"/>
        </p:xfrm>
        <a:graphic>
          <a:graphicData uri="http://schemas.openxmlformats.org/drawingml/2006/table">
            <a:tbl>
              <a:tblPr/>
              <a:tblGrid>
                <a:gridCol w="1181100"/>
                <a:gridCol w="538163"/>
                <a:gridCol w="1281112"/>
              </a:tblGrid>
              <a:tr h="24375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Elephant" pitchFamily="18" charset="0"/>
                          <a:ea typeface="Times New Roman" pitchFamily="18" charset="0"/>
                          <a:cs typeface="B Lotus" pitchFamily="2" charset="-78"/>
                        </a:rPr>
                        <a:t>Sequence</a:t>
                      </a: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Elephant" pitchFamily="18" charset="0"/>
                          <a:ea typeface="Times New Roman" pitchFamily="18" charset="0"/>
                          <a:cs typeface="B Lotus" pitchFamily="2" charset="-78"/>
                        </a:rPr>
                        <a:t>Profit</a:t>
                      </a: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hMerge="1">
                  <a:txBody>
                    <a:bodyPr/>
                    <a:lstStyle/>
                    <a:p>
                      <a:endParaRPr lang="en-US"/>
                    </a:p>
                  </a:txBody>
                  <a:tcPr/>
                </a:tc>
              </a:tr>
              <a:tr h="27422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1,3</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65</a:t>
                      </a:r>
                    </a:p>
                  </a:txBody>
                  <a:tcPr marL="68580" marR="68580" marT="0" marB="0" anchor="ctr" horzOverflow="overflow">
                    <a:lnL>
                      <a:noFill/>
                    </a:lnL>
                    <a:lnR>
                      <a:noFill/>
                    </a:lnR>
                    <a:lnT>
                      <a:noFill/>
                    </a:lnT>
                    <a:lnB>
                      <a:noFill/>
                    </a:lnB>
                    <a:lnTlToBr>
                      <a:noFill/>
                    </a:lnTlToBr>
                    <a:lnBlToTr>
                      <a:noFill/>
                    </a:lnBlToTr>
                    <a:noFill/>
                  </a:tcPr>
                </a:tc>
              </a:tr>
              <a:tr h="27422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2,1</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60</a:t>
                      </a:r>
                    </a:p>
                  </a:txBody>
                  <a:tcPr marL="68580" marR="68580" marT="0" marB="0" anchor="ctr" horzOverflow="overflow">
                    <a:lnL>
                      <a:noFill/>
                    </a:lnL>
                    <a:lnR>
                      <a:noFill/>
                    </a:lnR>
                    <a:lnT>
                      <a:noFill/>
                    </a:lnT>
                    <a:lnB>
                      <a:noFill/>
                    </a:lnB>
                    <a:lnTlToBr>
                      <a:noFill/>
                    </a:lnTlToBr>
                    <a:lnBlToTr>
                      <a:noFill/>
                    </a:lnBlToTr>
                    <a:noFill/>
                  </a:tcPr>
                </a:tc>
              </a:tr>
              <a:tr h="27422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2,3</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25</a:t>
                      </a:r>
                    </a:p>
                  </a:txBody>
                  <a:tcPr marL="68580" marR="68580" marT="0" marB="0" anchor="ctr" horzOverflow="overflow">
                    <a:lnL>
                      <a:noFill/>
                    </a:lnL>
                    <a:lnR>
                      <a:noFill/>
                    </a:lnR>
                    <a:lnT>
                      <a:noFill/>
                    </a:lnT>
                    <a:lnB>
                      <a:noFill/>
                    </a:lnB>
                    <a:lnTlToBr>
                      <a:noFill/>
                    </a:lnTlToBr>
                    <a:lnBlToTr>
                      <a:noFill/>
                    </a:lnBlToTr>
                    <a:noFill/>
                  </a:tcPr>
                </a:tc>
              </a:tr>
              <a:tr h="27422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3,1</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65</a:t>
                      </a:r>
                    </a:p>
                  </a:txBody>
                  <a:tcPr marL="68580" marR="68580" marT="0" marB="0" anchor="ctr" horzOverflow="overflow">
                    <a:lnL>
                      <a:noFill/>
                    </a:lnL>
                    <a:lnR>
                      <a:noFill/>
                    </a:lnR>
                    <a:lnT>
                      <a:noFill/>
                    </a:lnT>
                    <a:lnB>
                      <a:noFill/>
                    </a:lnB>
                    <a:lnTlToBr>
                      <a:noFill/>
                    </a:lnTlToBr>
                    <a:lnBlToTr>
                      <a:noFill/>
                    </a:lnBlToTr>
                    <a:noFill/>
                  </a:tcPr>
                </a:tc>
              </a:tr>
              <a:tr h="27422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4,1</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80  </a:t>
                      </a:r>
                    </a:p>
                  </a:txBody>
                  <a:tcPr marL="68580" marR="68580" marT="0" marB="0" anchor="ctr" horzOverflow="overflow">
                    <a:lnL>
                      <a:noFill/>
                    </a:lnL>
                    <a:lnR>
                      <a:noFill/>
                    </a:lnR>
                    <a:lnT>
                      <a:noFill/>
                    </a:lnT>
                    <a:lnB>
                      <a:noFill/>
                    </a:lnB>
                    <a:lnTlToBr>
                      <a:noFill/>
                    </a:lnTlToBr>
                    <a:lnBlToTr>
                      <a:noFill/>
                    </a:lnBlToTr>
                    <a:noFill/>
                  </a:tcPr>
                </a:tc>
              </a:tr>
              <a:tr h="27422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4,3</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45</a:t>
                      </a:r>
                    </a:p>
                  </a:txBody>
                  <a:tcPr marL="68580" marR="68580" marT="0" marB="0" anchor="ctr" horzOverflow="overflow">
                    <a:lnL>
                      <a:noFill/>
                    </a:lnL>
                    <a:lnR>
                      <a:noFill/>
                    </a:lnR>
                    <a:lnT>
                      <a:noFill/>
                    </a:lnT>
                    <a:lnB>
                      <a:noFill/>
                    </a:lnB>
                    <a:lnTlToBr>
                      <a:noFill/>
                    </a:lnTlToBr>
                    <a:lnBlToTr>
                      <a:noFill/>
                    </a:lnBlToTr>
                    <a:noFill/>
                  </a:tcPr>
                </a:tc>
              </a:tr>
            </a:tbl>
          </a:graphicData>
        </a:graphic>
      </p:graphicFrame>
      <p:graphicFrame>
        <p:nvGraphicFramePr>
          <p:cNvPr id="57358" name="Object 35"/>
          <p:cNvGraphicFramePr>
            <a:graphicFrameLocks noChangeAspect="1"/>
          </p:cNvGraphicFramePr>
          <p:nvPr/>
        </p:nvGraphicFramePr>
        <p:xfrm>
          <a:off x="6831013" y="5926138"/>
          <a:ext cx="1098550" cy="315912"/>
        </p:xfrm>
        <a:graphic>
          <a:graphicData uri="http://schemas.openxmlformats.org/presentationml/2006/ole">
            <mc:AlternateContent xmlns:mc="http://schemas.openxmlformats.org/markup-compatibility/2006">
              <mc:Choice xmlns:v="urn:schemas-microsoft-com:vml" Requires="v">
                <p:oleObj spid="_x0000_s57478" name="Equation" r:id="rId27" imgW="698197" imgH="203112" progId="Equation.3">
                  <p:embed/>
                </p:oleObj>
              </mc:Choice>
              <mc:Fallback>
                <p:oleObj name="Equation" r:id="rId27" imgW="698197" imgH="203112" progId="Equation.3">
                  <p:embed/>
                  <p:pic>
                    <p:nvPicPr>
                      <p:cNvPr id="0" name="Object 3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831013" y="5926138"/>
                        <a:ext cx="1098550" cy="315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9" name="Rectangle 5"/>
          <p:cNvSpPr txBox="1">
            <a:spLocks/>
          </p:cNvSpPr>
          <p:nvPr/>
        </p:nvSpPr>
        <p:spPr bwMode="auto">
          <a:xfrm>
            <a:off x="452636" y="611163"/>
            <a:ext cx="8229600"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just" eaLnBrk="1" hangingPunct="1">
              <a:lnSpc>
                <a:spcPts val="3000"/>
              </a:lnSpc>
            </a:pPr>
            <a:endParaRPr lang="en-US" sz="2000">
              <a:cs typeface="B Lotus" pitchFamily="2" charset="-78"/>
            </a:endParaRPr>
          </a:p>
          <a:p>
            <a:pPr algn="just" eaLnBrk="1" hangingPunct="1">
              <a:lnSpc>
                <a:spcPts val="3000"/>
              </a:lnSpc>
            </a:pPr>
            <a:endParaRPr lang="fa-IR" sz="2000">
              <a:cs typeface="B Lotus" pitchFamily="2" charset="-78"/>
            </a:endParaRPr>
          </a:p>
          <a:p>
            <a:pPr eaLnBrk="1" hangingPunct="1">
              <a:lnSpc>
                <a:spcPts val="3000"/>
              </a:lnSpc>
            </a:pPr>
            <a:endParaRPr lang="en-US" sz="2000">
              <a:solidFill>
                <a:srgbClr val="DC0000"/>
              </a:solidFill>
              <a:cs typeface="B Lotus" pitchFamily="2" charset="-78"/>
            </a:endParaRPr>
          </a:p>
        </p:txBody>
      </p:sp>
      <p:grpSp>
        <p:nvGrpSpPr>
          <p:cNvPr id="58381" name="Group 35"/>
          <p:cNvGrpSpPr>
            <a:grpSpLocks/>
          </p:cNvGrpSpPr>
          <p:nvPr/>
        </p:nvGrpSpPr>
        <p:grpSpPr bwMode="auto">
          <a:xfrm>
            <a:off x="495499" y="620688"/>
            <a:ext cx="5643562" cy="5643562"/>
            <a:chOff x="2928926" y="1357298"/>
            <a:chExt cx="3257548" cy="3390592"/>
          </a:xfrm>
        </p:grpSpPr>
        <p:graphicFrame>
          <p:nvGraphicFramePr>
            <p:cNvPr id="58370" name="Object 22"/>
            <p:cNvGraphicFramePr>
              <a:graphicFrameLocks noChangeAspect="1"/>
            </p:cNvGraphicFramePr>
            <p:nvPr/>
          </p:nvGraphicFramePr>
          <p:xfrm>
            <a:off x="2928926" y="1357298"/>
            <a:ext cx="2619375" cy="1447800"/>
          </p:xfrm>
          <a:graphic>
            <a:graphicData uri="http://schemas.openxmlformats.org/presentationml/2006/ole">
              <mc:AlternateContent xmlns:mc="http://schemas.openxmlformats.org/markup-compatibility/2006">
                <mc:Choice xmlns:v="urn:schemas-microsoft-com:vml" Requires="v">
                  <p:oleObj spid="_x0000_s58414" name="Equation" r:id="rId3" imgW="2616200" imgH="1447800" progId="Equation.3">
                    <p:embed/>
                  </p:oleObj>
                </mc:Choice>
                <mc:Fallback>
                  <p:oleObj name="Equation" r:id="rId3" imgW="2616200" imgH="1447800"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926" y="1357298"/>
                          <a:ext cx="2619375" cy="144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71" name="Object 21"/>
            <p:cNvGraphicFramePr>
              <a:graphicFrameLocks noChangeAspect="1"/>
            </p:cNvGraphicFramePr>
            <p:nvPr/>
          </p:nvGraphicFramePr>
          <p:xfrm>
            <a:off x="3357332" y="2823578"/>
            <a:ext cx="2829142" cy="482928"/>
          </p:xfrm>
          <a:graphic>
            <a:graphicData uri="http://schemas.openxmlformats.org/presentationml/2006/ole">
              <mc:AlternateContent xmlns:mc="http://schemas.openxmlformats.org/markup-compatibility/2006">
                <mc:Choice xmlns:v="urn:schemas-microsoft-com:vml" Requires="v">
                  <p:oleObj spid="_x0000_s58415" name="Equation" r:id="rId5" imgW="2831760" imgH="482400" progId="Equation.3">
                    <p:embed/>
                  </p:oleObj>
                </mc:Choice>
                <mc:Fallback>
                  <p:oleObj name="Equation" r:id="rId5" imgW="2831760" imgH="482400"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7332" y="2823578"/>
                          <a:ext cx="2829142" cy="4829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72" name="Object 20"/>
            <p:cNvGraphicFramePr>
              <a:graphicFrameLocks noChangeAspect="1"/>
            </p:cNvGraphicFramePr>
            <p:nvPr/>
          </p:nvGraphicFramePr>
          <p:xfrm>
            <a:off x="3371657" y="3283921"/>
            <a:ext cx="981075" cy="228600"/>
          </p:xfrm>
          <a:graphic>
            <a:graphicData uri="http://schemas.openxmlformats.org/presentationml/2006/ole">
              <mc:AlternateContent xmlns:mc="http://schemas.openxmlformats.org/markup-compatibility/2006">
                <mc:Choice xmlns:v="urn:schemas-microsoft-com:vml" Requires="v">
                  <p:oleObj spid="_x0000_s58416" name="Equation" r:id="rId7" imgW="977900" imgH="228600" progId="Equation.3">
                    <p:embed/>
                  </p:oleObj>
                </mc:Choice>
                <mc:Fallback>
                  <p:oleObj name="Equation" r:id="rId7" imgW="977900" imgH="228600"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71657" y="3283921"/>
                          <a:ext cx="981075"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73" name="Object 19"/>
            <p:cNvGraphicFramePr>
              <a:graphicFrameLocks noChangeAspect="1"/>
            </p:cNvGraphicFramePr>
            <p:nvPr/>
          </p:nvGraphicFramePr>
          <p:xfrm>
            <a:off x="3857620" y="3530510"/>
            <a:ext cx="1914525" cy="228600"/>
          </p:xfrm>
          <a:graphic>
            <a:graphicData uri="http://schemas.openxmlformats.org/presentationml/2006/ole">
              <mc:AlternateContent xmlns:mc="http://schemas.openxmlformats.org/markup-compatibility/2006">
                <mc:Choice xmlns:v="urn:schemas-microsoft-com:vml" Requires="v">
                  <p:oleObj spid="_x0000_s58417" name="Equation" r:id="rId9" imgW="1917700" imgH="228600" progId="Equation.3">
                    <p:embed/>
                  </p:oleObj>
                </mc:Choice>
                <mc:Fallback>
                  <p:oleObj name="Equation" r:id="rId9" imgW="1917700" imgH="2286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7620" y="3530510"/>
                          <a:ext cx="1914525"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74" name="Object 18"/>
            <p:cNvGraphicFramePr>
              <a:graphicFrameLocks noChangeAspect="1"/>
            </p:cNvGraphicFramePr>
            <p:nvPr/>
          </p:nvGraphicFramePr>
          <p:xfrm>
            <a:off x="4429124" y="3828401"/>
            <a:ext cx="1019175" cy="200025"/>
          </p:xfrm>
          <a:graphic>
            <a:graphicData uri="http://schemas.openxmlformats.org/presentationml/2006/ole">
              <mc:AlternateContent xmlns:mc="http://schemas.openxmlformats.org/markup-compatibility/2006">
                <mc:Choice xmlns:v="urn:schemas-microsoft-com:vml" Requires="v">
                  <p:oleObj spid="_x0000_s58418" name="Equation" r:id="rId11" imgW="1016000" imgH="203200" progId="Equation.3">
                    <p:embed/>
                  </p:oleObj>
                </mc:Choice>
                <mc:Fallback>
                  <p:oleObj name="Equation" r:id="rId11" imgW="1016000" imgH="203200"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29124" y="3828401"/>
                          <a:ext cx="1019175"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75" name="Object 17"/>
            <p:cNvGraphicFramePr>
              <a:graphicFrameLocks noChangeAspect="1"/>
            </p:cNvGraphicFramePr>
            <p:nvPr/>
          </p:nvGraphicFramePr>
          <p:xfrm>
            <a:off x="3880198" y="4073050"/>
            <a:ext cx="733425" cy="200025"/>
          </p:xfrm>
          <a:graphic>
            <a:graphicData uri="http://schemas.openxmlformats.org/presentationml/2006/ole">
              <mc:AlternateContent xmlns:mc="http://schemas.openxmlformats.org/markup-compatibility/2006">
                <mc:Choice xmlns:v="urn:schemas-microsoft-com:vml" Requires="v">
                  <p:oleObj spid="_x0000_s58419" name="Equation" r:id="rId13" imgW="736600" imgH="203200" progId="Equation.3">
                    <p:embed/>
                  </p:oleObj>
                </mc:Choice>
                <mc:Fallback>
                  <p:oleObj name="Equation" r:id="rId13" imgW="736600" imgH="20320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80198" y="4073050"/>
                          <a:ext cx="733425"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76" name="Object 16"/>
            <p:cNvGraphicFramePr>
              <a:graphicFrameLocks noChangeAspect="1"/>
            </p:cNvGraphicFramePr>
            <p:nvPr/>
          </p:nvGraphicFramePr>
          <p:xfrm>
            <a:off x="3902776" y="4340794"/>
            <a:ext cx="619125" cy="180975"/>
          </p:xfrm>
          <a:graphic>
            <a:graphicData uri="http://schemas.openxmlformats.org/presentationml/2006/ole">
              <mc:AlternateContent xmlns:mc="http://schemas.openxmlformats.org/markup-compatibility/2006">
                <mc:Choice xmlns:v="urn:schemas-microsoft-com:vml" Requires="v">
                  <p:oleObj spid="_x0000_s58420" name="Equation" r:id="rId15" imgW="621760" imgH="177646" progId="Equation.3">
                    <p:embed/>
                  </p:oleObj>
                </mc:Choice>
                <mc:Fallback>
                  <p:oleObj name="Equation" r:id="rId15" imgW="621760" imgH="177646"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02776" y="4340794"/>
                          <a:ext cx="619125" cy="180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77" name="Object 15"/>
            <p:cNvGraphicFramePr>
              <a:graphicFrameLocks noChangeAspect="1"/>
            </p:cNvGraphicFramePr>
            <p:nvPr/>
          </p:nvGraphicFramePr>
          <p:xfrm>
            <a:off x="2966497" y="4519290"/>
            <a:ext cx="990600" cy="228600"/>
          </p:xfrm>
          <a:graphic>
            <a:graphicData uri="http://schemas.openxmlformats.org/presentationml/2006/ole">
              <mc:AlternateContent xmlns:mc="http://schemas.openxmlformats.org/markup-compatibility/2006">
                <mc:Choice xmlns:v="urn:schemas-microsoft-com:vml" Requires="v">
                  <p:oleObj spid="_x0000_s58421" name="Equation" r:id="rId17" imgW="990600" imgH="228600" progId="Equation.3">
                    <p:embed/>
                  </p:oleObj>
                </mc:Choice>
                <mc:Fallback>
                  <p:oleObj name="Equation" r:id="rId17" imgW="990600" imgH="22860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66497" y="4519290"/>
                          <a:ext cx="9906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a:xfrm>
            <a:off x="511175" y="1785938"/>
            <a:ext cx="2571750" cy="1071562"/>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sp>
        <p:nvSpPr>
          <p:cNvPr id="59400" name="Rectangle 5"/>
          <p:cNvSpPr txBox="1">
            <a:spLocks/>
          </p:cNvSpPr>
          <p:nvPr/>
        </p:nvSpPr>
        <p:spPr bwMode="auto">
          <a:xfrm>
            <a:off x="457200" y="928688"/>
            <a:ext cx="8229600"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ts val="3000"/>
              </a:lnSpc>
            </a:pPr>
            <a:r>
              <a:rPr lang="en-US" sz="2000">
                <a:cs typeface="B Lotus" pitchFamily="2" charset="-78"/>
              </a:rPr>
              <a:t> </a:t>
            </a:r>
            <a:r>
              <a:rPr lang="en-US" sz="2000">
                <a:latin typeface="Times New Roman" pitchFamily="18" charset="0"/>
                <a:cs typeface="Times New Roman" pitchFamily="18" charset="0"/>
              </a:rPr>
              <a:t>: </a:t>
            </a:r>
            <a:r>
              <a:rPr lang="en-US" sz="2000" i="1">
                <a:latin typeface="Times New Roman" pitchFamily="18" charset="0"/>
                <a:cs typeface="Times New Roman" pitchFamily="18" charset="0"/>
              </a:rPr>
              <a:t>k</a:t>
            </a:r>
            <a:r>
              <a:rPr lang="fa-IR" sz="2000">
                <a:cs typeface="B Lotus" pitchFamily="2" charset="-78"/>
              </a:rPr>
              <a:t>در هر مرحله شماره کاری که انجام می شود.</a:t>
            </a:r>
          </a:p>
          <a:p>
            <a:pPr eaLnBrk="1" hangingPunct="1">
              <a:lnSpc>
                <a:spcPts val="3000"/>
              </a:lnSpc>
            </a:pPr>
            <a:r>
              <a:rPr lang="en-US" sz="2000">
                <a:cs typeface="B Lotus" pitchFamily="2" charset="-78"/>
              </a:rPr>
              <a:t> </a:t>
            </a:r>
            <a:r>
              <a:rPr lang="en-US" sz="2000">
                <a:latin typeface="Times New Roman" pitchFamily="18" charset="0"/>
                <a:cs typeface="Times New Roman" pitchFamily="18" charset="0"/>
              </a:rPr>
              <a:t>:  </a:t>
            </a:r>
            <a:r>
              <a:rPr lang="en-US" sz="2000" i="1">
                <a:latin typeface="Times New Roman" pitchFamily="18" charset="0"/>
                <a:cs typeface="Times New Roman" pitchFamily="18" charset="0"/>
              </a:rPr>
              <a:t>i</a:t>
            </a:r>
            <a:r>
              <a:rPr lang="fa-IR" sz="2000">
                <a:cs typeface="B Lotus" pitchFamily="2" charset="-78"/>
              </a:rPr>
              <a:t>جهت بررسی کارهای موجودکه بترتیب نزولی مرتب شده اند.</a:t>
            </a:r>
            <a:endParaRPr lang="en-US" sz="2000">
              <a:cs typeface="B Lotus" pitchFamily="2" charset="-78"/>
            </a:endParaRPr>
          </a:p>
          <a:p>
            <a:pPr eaLnBrk="1" hangingPunct="1">
              <a:lnSpc>
                <a:spcPts val="3000"/>
              </a:lnSpc>
            </a:pPr>
            <a:endParaRPr lang="en-US" sz="2000">
              <a:cs typeface="B Lotus" pitchFamily="2" charset="-78"/>
            </a:endParaRPr>
          </a:p>
          <a:p>
            <a:pPr eaLnBrk="1" hangingPunct="1">
              <a:lnSpc>
                <a:spcPts val="3000"/>
              </a:lnSpc>
            </a:pPr>
            <a:endParaRPr lang="en-US" sz="2000">
              <a:cs typeface="B Lotus" pitchFamily="2" charset="-78"/>
            </a:endParaRPr>
          </a:p>
          <a:p>
            <a:pPr eaLnBrk="1" hangingPunct="1">
              <a:lnSpc>
                <a:spcPts val="3000"/>
              </a:lnSpc>
            </a:pPr>
            <a:endParaRPr lang="en-US" sz="2000">
              <a:cs typeface="B Lotus" pitchFamily="2" charset="-78"/>
            </a:endParaRPr>
          </a:p>
          <a:p>
            <a:pPr eaLnBrk="1" hangingPunct="1">
              <a:lnSpc>
                <a:spcPts val="3000"/>
              </a:lnSpc>
            </a:pPr>
            <a:r>
              <a:rPr lang="en-US" sz="2000" i="1">
                <a:latin typeface="Times New Roman" pitchFamily="18" charset="0"/>
                <a:cs typeface="Times New Roman" pitchFamily="18" charset="0"/>
              </a:rPr>
              <a:t>r</a:t>
            </a:r>
            <a:r>
              <a:rPr lang="fa-IR" sz="2000" i="1">
                <a:latin typeface="Times New Roman" pitchFamily="18" charset="0"/>
                <a:cs typeface="Times New Roman" pitchFamily="18" charset="0"/>
              </a:rPr>
              <a:t> </a:t>
            </a:r>
            <a:r>
              <a:rPr lang="en-US" sz="2000">
                <a:latin typeface="Times New Roman" pitchFamily="18" charset="0"/>
                <a:cs typeface="Times New Roman" pitchFamily="18" charset="0"/>
              </a:rPr>
              <a:t>:</a:t>
            </a:r>
            <a:r>
              <a:rPr lang="fa-IR" sz="2000" i="1">
                <a:latin typeface="Times New Roman" pitchFamily="18" charset="0"/>
                <a:cs typeface="Times New Roman" pitchFamily="18" charset="0"/>
              </a:rPr>
              <a:t> </a:t>
            </a:r>
            <a:r>
              <a:rPr lang="fa-IR" sz="2000">
                <a:cs typeface="B Lotus" pitchFamily="2" charset="-78"/>
              </a:rPr>
              <a:t>از خانه ام به قبل اگر محدودیت زمانی اجازه می</a:t>
            </a:r>
            <a:r>
              <a:rPr lang="en-US" sz="2000">
                <a:cs typeface="B Lotus" pitchFamily="2" charset="-78"/>
              </a:rPr>
              <a:t> </a:t>
            </a:r>
            <a:r>
              <a:rPr lang="fa-IR" sz="2000">
                <a:cs typeface="B Lotus" pitchFamily="2" charset="-78"/>
              </a:rPr>
              <a:t>دهد، انجام آن</a:t>
            </a:r>
            <a:r>
              <a:rPr lang="en-US" sz="2000">
                <a:cs typeface="B Lotus" pitchFamily="2" charset="-78"/>
              </a:rPr>
              <a:t> </a:t>
            </a:r>
            <a:r>
              <a:rPr lang="fa-IR" sz="2000">
                <a:cs typeface="B Lotus" pitchFamily="2" charset="-78"/>
              </a:rPr>
              <a:t>ها را به تأخیر بیاندازیم.</a:t>
            </a:r>
          </a:p>
          <a:p>
            <a:pPr eaLnBrk="1" hangingPunct="1">
              <a:lnSpc>
                <a:spcPts val="3000"/>
              </a:lnSpc>
            </a:pPr>
            <a:r>
              <a:rPr lang="en-US" sz="2000">
                <a:cs typeface="B Lotus" pitchFamily="2" charset="-78"/>
              </a:rPr>
              <a:t> </a:t>
            </a:r>
            <a:r>
              <a:rPr lang="en-US" sz="2000">
                <a:latin typeface="Times New Roman" pitchFamily="18" charset="0"/>
                <a:cs typeface="Times New Roman" pitchFamily="18" charset="0"/>
              </a:rPr>
              <a:t>:</a:t>
            </a:r>
            <a:r>
              <a:rPr lang="en-US" sz="2000" i="1">
                <a:latin typeface="Times New Roman" pitchFamily="18" charset="0"/>
                <a:cs typeface="Times New Roman" pitchFamily="18" charset="0"/>
              </a:rPr>
              <a:t> d</a:t>
            </a:r>
            <a:r>
              <a:rPr lang="fa-IR" sz="2000">
                <a:cs typeface="B Lotus" pitchFamily="2" charset="-78"/>
              </a:rPr>
              <a:t>لیست کار</a:t>
            </a:r>
            <a:r>
              <a:rPr lang="en-US" sz="2000">
                <a:cs typeface="B Lotus" pitchFamily="2" charset="-78"/>
              </a:rPr>
              <a:t> </a:t>
            </a:r>
            <a:r>
              <a:rPr lang="fa-IR" sz="2000">
                <a:cs typeface="B Lotus" pitchFamily="2" charset="-78"/>
              </a:rPr>
              <a:t>هایی که انجام می</a:t>
            </a:r>
            <a:r>
              <a:rPr lang="en-US" sz="2000">
                <a:cs typeface="B Lotus" pitchFamily="2" charset="-78"/>
              </a:rPr>
              <a:t> </a:t>
            </a:r>
            <a:r>
              <a:rPr lang="fa-IR" sz="2000">
                <a:cs typeface="B Lotus" pitchFamily="2" charset="-78"/>
              </a:rPr>
              <a:t>شود.</a:t>
            </a:r>
            <a:endParaRPr lang="en-US" sz="2000">
              <a:cs typeface="B Lotus" pitchFamily="2" charset="-78"/>
            </a:endParaRPr>
          </a:p>
          <a:p>
            <a:pPr eaLnBrk="1" hangingPunct="1">
              <a:lnSpc>
                <a:spcPts val="3000"/>
              </a:lnSpc>
            </a:pPr>
            <a:endParaRPr lang="en-US" sz="2000">
              <a:cs typeface="B Lotus" pitchFamily="2" charset="-78"/>
            </a:endParaRPr>
          </a:p>
          <a:p>
            <a:pPr eaLnBrk="1" hangingPunct="1">
              <a:lnSpc>
                <a:spcPts val="3000"/>
              </a:lnSpc>
            </a:pPr>
            <a:endParaRPr lang="en-US" sz="2000">
              <a:cs typeface="B Lotus" pitchFamily="2" charset="-78"/>
            </a:endParaRPr>
          </a:p>
          <a:p>
            <a:pPr eaLnBrk="1" hangingPunct="1"/>
            <a:endParaRPr lang="en-US" sz="1600">
              <a:cs typeface="B Lotus" pitchFamily="2" charset="-78"/>
            </a:endParaRPr>
          </a:p>
          <a:p>
            <a:pPr eaLnBrk="1" hangingPunct="1"/>
            <a:endParaRPr lang="en-US" sz="2800">
              <a:cs typeface="B Lotus" pitchFamily="2" charset="-78"/>
            </a:endParaRPr>
          </a:p>
          <a:p>
            <a:pPr algn="just" eaLnBrk="1" hangingPunct="1">
              <a:lnSpc>
                <a:spcPts val="3000"/>
              </a:lnSpc>
            </a:pPr>
            <a:r>
              <a:rPr lang="fa-IR" sz="2000">
                <a:cs typeface="B Lotus" pitchFamily="2" charset="-78"/>
              </a:rPr>
              <a:t>مرتبه</a:t>
            </a:r>
            <a:r>
              <a:rPr lang="en-US" sz="2000">
                <a:cs typeface="B Lotus" pitchFamily="2" charset="-78"/>
              </a:rPr>
              <a:t> </a:t>
            </a:r>
            <a:r>
              <a:rPr lang="fa-IR" sz="2000">
                <a:cs typeface="B Lotus" pitchFamily="2" charset="-78"/>
              </a:rPr>
              <a:t>زمانی این الگوریتم</a:t>
            </a:r>
            <a:r>
              <a:rPr lang="en-US" sz="2000">
                <a:cs typeface="B Lotus" pitchFamily="2" charset="-78"/>
              </a:rPr>
              <a:t>          </a:t>
            </a:r>
            <a:r>
              <a:rPr lang="fa-IR" sz="2000">
                <a:cs typeface="B Lotus" pitchFamily="2" charset="-78"/>
              </a:rPr>
              <a:t> می</a:t>
            </a:r>
            <a:r>
              <a:rPr lang="en-US" sz="2000">
                <a:cs typeface="B Lotus" pitchFamily="2" charset="-78"/>
              </a:rPr>
              <a:t> </a:t>
            </a:r>
            <a:r>
              <a:rPr lang="fa-IR" sz="2000">
                <a:cs typeface="B Lotus" pitchFamily="2" charset="-78"/>
              </a:rPr>
              <a:t>باشد.</a:t>
            </a:r>
            <a:endParaRPr lang="en-US" sz="2000">
              <a:cs typeface="B Lotus" pitchFamily="2" charset="-78"/>
            </a:endParaRPr>
          </a:p>
          <a:p>
            <a:pPr algn="just" eaLnBrk="1" hangingPunct="1">
              <a:lnSpc>
                <a:spcPts val="3000"/>
              </a:lnSpc>
            </a:pPr>
            <a:r>
              <a:rPr lang="fa-IR" sz="2000">
                <a:cs typeface="B Lotus" pitchFamily="2" charset="-78"/>
              </a:rPr>
              <a:t>این الگوریتم عناصری که دارای بیشترین سود هستند را در ابتدای صف قرار داده، سپس با توجه به</a:t>
            </a:r>
            <a:r>
              <a:rPr lang="en-US" sz="2000">
                <a:cs typeface="B Lotus" pitchFamily="2" charset="-78"/>
              </a:rPr>
              <a:t> </a:t>
            </a:r>
            <a:r>
              <a:rPr lang="en-US" sz="2000" i="1">
                <a:latin typeface="Times New Roman" pitchFamily="18" charset="0"/>
                <a:cs typeface="Times New Roman" pitchFamily="18" charset="0"/>
              </a:rPr>
              <a:t>deadline</a:t>
            </a:r>
            <a:r>
              <a:rPr lang="fa-IR" sz="2000">
                <a:cs typeface="B Lotus" pitchFamily="2" charset="-78"/>
              </a:rPr>
              <a:t> آن</a:t>
            </a:r>
            <a:r>
              <a:rPr lang="en-US" sz="2000">
                <a:cs typeface="B Lotus" pitchFamily="2" charset="-78"/>
              </a:rPr>
              <a:t> </a:t>
            </a:r>
            <a:r>
              <a:rPr lang="fa-IR" sz="2000">
                <a:cs typeface="B Lotus" pitchFamily="2" charset="-78"/>
              </a:rPr>
              <a:t>ها اجازه می</a:t>
            </a:r>
            <a:r>
              <a:rPr lang="en-US" sz="2000">
                <a:cs typeface="B Lotus" pitchFamily="2" charset="-78"/>
              </a:rPr>
              <a:t> </a:t>
            </a:r>
            <a:r>
              <a:rPr lang="fa-IR" sz="2000">
                <a:cs typeface="B Lotus" pitchFamily="2" charset="-78"/>
              </a:rPr>
              <a:t>دهدتا جایی</a:t>
            </a:r>
            <a:r>
              <a:rPr lang="en-US" sz="2000">
                <a:cs typeface="B Lotus" pitchFamily="2" charset="-78"/>
              </a:rPr>
              <a:t> </a:t>
            </a:r>
            <a:r>
              <a:rPr lang="fa-IR" sz="2000">
                <a:cs typeface="B Lotus" pitchFamily="2" charset="-78"/>
              </a:rPr>
              <a:t>که ممکن است جابجا شوند و بعد از عناصر با</a:t>
            </a:r>
            <a:r>
              <a:rPr lang="en-US" sz="2000">
                <a:cs typeface="B Lotus" pitchFamily="2" charset="-78"/>
              </a:rPr>
              <a:t> </a:t>
            </a:r>
            <a:r>
              <a:rPr lang="en-US" sz="2000" i="1">
                <a:latin typeface="Times New Roman" pitchFamily="18" charset="0"/>
                <a:cs typeface="Times New Roman" pitchFamily="18" charset="0"/>
              </a:rPr>
              <a:t>deadline</a:t>
            </a:r>
            <a:r>
              <a:rPr lang="en-US" sz="2000">
                <a:cs typeface="B Lotus" pitchFamily="2" charset="-78"/>
              </a:rPr>
              <a:t> </a:t>
            </a:r>
            <a:r>
              <a:rPr lang="fa-IR" sz="2000">
                <a:cs typeface="B Lotus" pitchFamily="2" charset="-78"/>
              </a:rPr>
              <a:t>کمتر قرار بگیرند.</a:t>
            </a:r>
            <a:endParaRPr lang="en-US" sz="2000">
              <a:cs typeface="B Lotus" pitchFamily="2" charset="-78"/>
            </a:endParaRPr>
          </a:p>
          <a:p>
            <a:pPr eaLnBrk="1" hangingPunct="1">
              <a:lnSpc>
                <a:spcPts val="3000"/>
              </a:lnSpc>
            </a:pPr>
            <a:endParaRPr lang="en-US" sz="2000">
              <a:cs typeface="B Lotus" pitchFamily="2" charset="-78"/>
            </a:endParaRPr>
          </a:p>
          <a:p>
            <a:pPr eaLnBrk="1" hangingPunct="1"/>
            <a:endParaRPr lang="en-US" sz="2000">
              <a:cs typeface="B Lotus" pitchFamily="2" charset="-78"/>
            </a:endParaRPr>
          </a:p>
          <a:p>
            <a:pPr eaLnBrk="1" hangingPunct="1">
              <a:lnSpc>
                <a:spcPts val="3000"/>
              </a:lnSpc>
            </a:pPr>
            <a:endParaRPr lang="en-US" sz="2000">
              <a:solidFill>
                <a:srgbClr val="DC0000"/>
              </a:solidFill>
              <a:cs typeface="B Lotus" pitchFamily="2" charset="-78"/>
            </a:endParaRPr>
          </a:p>
        </p:txBody>
      </p:sp>
      <p:graphicFrame>
        <p:nvGraphicFramePr>
          <p:cNvPr id="30" name="Table 29"/>
          <p:cNvGraphicFramePr>
            <a:graphicFrameLocks noGrp="1"/>
          </p:cNvGraphicFramePr>
          <p:nvPr/>
        </p:nvGraphicFramePr>
        <p:xfrm>
          <a:off x="909638" y="1760538"/>
          <a:ext cx="2058987" cy="1060449"/>
        </p:xfrm>
        <a:graphic>
          <a:graphicData uri="http://schemas.openxmlformats.org/drawingml/2006/table">
            <a:tbl>
              <a:tblPr/>
              <a:tblGrid>
                <a:gridCol w="386879"/>
                <a:gridCol w="393437"/>
                <a:gridCol w="393437"/>
                <a:gridCol w="295078"/>
                <a:gridCol w="295078"/>
                <a:gridCol w="295078"/>
              </a:tblGrid>
              <a:tr h="353483">
                <a:tc>
                  <a:txBody>
                    <a:bodyPr/>
                    <a:lstStyle/>
                    <a:p>
                      <a:pPr algn="ctr" rtl="0">
                        <a:spcAft>
                          <a:spcPts val="0"/>
                        </a:spcAft>
                      </a:pPr>
                      <a:r>
                        <a:rPr lang="en-US" sz="1800" dirty="0">
                          <a:latin typeface="Times New Roman"/>
                          <a:ea typeface="Times New Roman"/>
                          <a:cs typeface="Arial"/>
                        </a:rPr>
                        <a:t>1</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2</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3</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4</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5</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6</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53483">
                <a:tc>
                  <a:txBody>
                    <a:bodyPr/>
                    <a:lstStyle/>
                    <a:p>
                      <a:pPr algn="ctr" rtl="0">
                        <a:spcAft>
                          <a:spcPts val="0"/>
                        </a:spcAft>
                      </a:pPr>
                      <a:r>
                        <a:rPr lang="en-US" sz="1800">
                          <a:latin typeface="Times New Roman"/>
                          <a:ea typeface="Times New Roman"/>
                          <a:cs typeface="Arial"/>
                        </a:rPr>
                        <a:t>20</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15</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10</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7</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5</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3</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53483">
                <a:tc>
                  <a:txBody>
                    <a:bodyPr/>
                    <a:lstStyle/>
                    <a:p>
                      <a:pPr algn="ctr" rtl="0">
                        <a:spcAft>
                          <a:spcPts val="0"/>
                        </a:spcAft>
                      </a:pPr>
                      <a:r>
                        <a:rPr lang="en-US" sz="1800">
                          <a:latin typeface="Times New Roman"/>
                          <a:ea typeface="Times New Roman"/>
                          <a:cs typeface="Arial"/>
                        </a:rPr>
                        <a:t>3</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1</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dirty="0">
                          <a:latin typeface="Times New Roman"/>
                          <a:ea typeface="Times New Roman"/>
                          <a:cs typeface="Arial"/>
                        </a:rPr>
                        <a:t>1</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3</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a:latin typeface="Times New Roman"/>
                          <a:ea typeface="Times New Roman"/>
                          <a:cs typeface="Arial"/>
                        </a:rPr>
                        <a:t>1</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spcAft>
                          <a:spcPts val="0"/>
                        </a:spcAft>
                      </a:pPr>
                      <a:r>
                        <a:rPr lang="en-US" sz="1800" dirty="0">
                          <a:latin typeface="Times New Roman"/>
                          <a:ea typeface="Times New Roman"/>
                          <a:cs typeface="Arial"/>
                        </a:rPr>
                        <a:t>3</a:t>
                      </a:r>
                    </a:p>
                  </a:txBody>
                  <a:tcPr marL="68587" marR="6858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59394" name="Object 21"/>
          <p:cNvGraphicFramePr>
            <a:graphicFrameLocks noChangeAspect="1"/>
          </p:cNvGraphicFramePr>
          <p:nvPr/>
        </p:nvGraphicFramePr>
        <p:xfrm>
          <a:off x="644525" y="1809750"/>
          <a:ext cx="152400" cy="287338"/>
        </p:xfrm>
        <a:graphic>
          <a:graphicData uri="http://schemas.openxmlformats.org/presentationml/2006/ole">
            <mc:AlternateContent xmlns:mc="http://schemas.openxmlformats.org/markup-compatibility/2006">
              <mc:Choice xmlns:v="urn:schemas-microsoft-com:vml" Requires="v">
                <p:oleObj spid="_x0000_s59481" name="Equation" r:id="rId3" imgW="88707" imgH="164742" progId="Equation.3">
                  <p:embed/>
                </p:oleObj>
              </mc:Choice>
              <mc:Fallback>
                <p:oleObj name="Equation" r:id="rId3" imgW="88707" imgH="164742"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525" y="1809750"/>
                        <a:ext cx="152400" cy="287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395" name="Object 20"/>
          <p:cNvGraphicFramePr>
            <a:graphicFrameLocks noChangeAspect="1"/>
          </p:cNvGraphicFramePr>
          <p:nvPr/>
        </p:nvGraphicFramePr>
        <p:xfrm>
          <a:off x="582613" y="2095500"/>
          <a:ext cx="287337" cy="404813"/>
        </p:xfrm>
        <a:graphic>
          <a:graphicData uri="http://schemas.openxmlformats.org/presentationml/2006/ole">
            <mc:AlternateContent xmlns:mc="http://schemas.openxmlformats.org/markup-compatibility/2006">
              <mc:Choice xmlns:v="urn:schemas-microsoft-com:vml" Requires="v">
                <p:oleObj spid="_x0000_s59482" name="Equation" r:id="rId5" imgW="165028" imgH="228501" progId="Equation.3">
                  <p:embed/>
                </p:oleObj>
              </mc:Choice>
              <mc:Fallback>
                <p:oleObj name="Equation" r:id="rId5" imgW="165028" imgH="228501"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613" y="2095500"/>
                        <a:ext cx="287337"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396" name="Object 19"/>
          <p:cNvGraphicFramePr>
            <a:graphicFrameLocks noChangeAspect="1"/>
          </p:cNvGraphicFramePr>
          <p:nvPr/>
        </p:nvGraphicFramePr>
        <p:xfrm>
          <a:off x="595313" y="2452688"/>
          <a:ext cx="287337" cy="404812"/>
        </p:xfrm>
        <a:graphic>
          <a:graphicData uri="http://schemas.openxmlformats.org/presentationml/2006/ole">
            <mc:AlternateContent xmlns:mc="http://schemas.openxmlformats.org/markup-compatibility/2006">
              <mc:Choice xmlns:v="urn:schemas-microsoft-com:vml" Requires="v">
                <p:oleObj spid="_x0000_s59483" name="Equation" r:id="rId7" imgW="165028" imgH="228501" progId="Equation.3">
                  <p:embed/>
                </p:oleObj>
              </mc:Choice>
              <mc:Fallback>
                <p:oleObj name="Equation" r:id="rId7" imgW="165028" imgH="228501"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5313" y="2452688"/>
                        <a:ext cx="287337"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Table 33"/>
          <p:cNvGraphicFramePr>
            <a:graphicFrameLocks noGrp="1"/>
          </p:cNvGraphicFramePr>
          <p:nvPr/>
        </p:nvGraphicFramePr>
        <p:xfrm>
          <a:off x="557213" y="3821113"/>
          <a:ext cx="2928937" cy="1371600"/>
        </p:xfrm>
        <a:graphic>
          <a:graphicData uri="http://schemas.openxmlformats.org/drawingml/2006/table">
            <a:tbl>
              <a:tblPr/>
              <a:tblGrid>
                <a:gridCol w="347662"/>
                <a:gridCol w="360363"/>
                <a:gridCol w="360362"/>
                <a:gridCol w="361950"/>
                <a:gridCol w="360363"/>
                <a:gridCol w="360362"/>
                <a:gridCol w="360363"/>
                <a:gridCol w="417512"/>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0</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j</a:t>
                      </a:r>
                    </a:p>
                  </a:txBody>
                  <a:tcPr marL="68580" marR="6858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0</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3</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4</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5</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6</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0</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0</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2</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1</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4</a:t>
                      </a: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endParaRPr>
                    </a:p>
                  </a:txBody>
                  <a:tcPr marL="68580" marR="68580" marT="0" marB="0" horzOverflow="overflow">
                    <a:lnL>
                      <a:noFill/>
                    </a:lnL>
                    <a:lnR>
                      <a:noFill/>
                    </a:lnR>
                    <a:lnT>
                      <a:noFill/>
                    </a:lnT>
                    <a:lnB>
                      <a:noFill/>
                    </a:lnB>
                    <a:lnTlToBr>
                      <a:noFill/>
                    </a:lnTlToBr>
                    <a:lnBlToTr>
                      <a:noFill/>
                    </a:lnBlToTr>
                    <a:noFill/>
                  </a:tcPr>
                </a:tc>
              </a:tr>
              <a:tr h="0">
                <a:tc gridSpan="8">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ea typeface="Times New Roman" pitchFamily="18" charset="0"/>
                          <a:cs typeface="B Lotus" pitchFamily="2" charset="-78"/>
                        </a:rPr>
                        <a:t>unchanged</a:t>
                      </a:r>
                    </a:p>
                  </a:txBody>
                  <a:tcPr marL="68580" marR="68580" marT="0" marB="0"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graphicFrame>
        <p:nvGraphicFramePr>
          <p:cNvPr id="59397" name="Object 23"/>
          <p:cNvGraphicFramePr>
            <a:graphicFrameLocks noChangeAspect="1"/>
          </p:cNvGraphicFramePr>
          <p:nvPr/>
        </p:nvGraphicFramePr>
        <p:xfrm>
          <a:off x="6000750" y="5110163"/>
          <a:ext cx="642938" cy="358775"/>
        </p:xfrm>
        <a:graphic>
          <a:graphicData uri="http://schemas.openxmlformats.org/presentationml/2006/ole">
            <mc:AlternateContent xmlns:mc="http://schemas.openxmlformats.org/markup-compatibility/2006">
              <mc:Choice xmlns:v="urn:schemas-microsoft-com:vml" Requires="v">
                <p:oleObj spid="_x0000_s59484" name="Equation" r:id="rId9" imgW="406224" imgH="228501" progId="Equation.3">
                  <p:embed/>
                </p:oleObj>
              </mc:Choice>
              <mc:Fallback>
                <p:oleObj name="Equation" r:id="rId9" imgW="406224" imgH="228501" progId="Equation.3">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00750" y="5110163"/>
                        <a:ext cx="642938" cy="35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17617</TotalTime>
  <Words>450</Words>
  <Application>Microsoft Office PowerPoint</Application>
  <PresentationFormat>On-screen Show (4:3)</PresentationFormat>
  <Paragraphs>134</Paragraphs>
  <Slides>5</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7" baseType="lpstr">
      <vt:lpstr>Slipstream</vt:lpstr>
      <vt:lpstr>Equation</vt:lpstr>
      <vt:lpstr>PowerPoint Presentation</vt:lpstr>
      <vt:lpstr>PowerPoint Presentation</vt:lpstr>
      <vt:lpstr>PowerPoint Presentation</vt:lpstr>
      <vt:lpstr>PowerPoint Presentation</vt:lpstr>
      <vt:lpstr>PowerPoint Presentation</vt:lpstr>
    </vt:vector>
  </TitlesOfParts>
  <Company>DouranPortal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JNAMAZI</dc:creator>
  <cp:lastModifiedBy>BITA</cp:lastModifiedBy>
  <cp:revision>319</cp:revision>
  <dcterms:created xsi:type="dcterms:W3CDTF">2007-04-14T11:36:14Z</dcterms:created>
  <dcterms:modified xsi:type="dcterms:W3CDTF">2011-05-07T22:31:14Z</dcterms:modified>
</cp:coreProperties>
</file>